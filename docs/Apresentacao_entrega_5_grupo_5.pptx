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87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</p:sld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6" d="100"/>
          <a:sy n="76" d="100"/>
        </p:scale>
        <p:origin x="210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44333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Boa tarde. Apresentamos o SGP — Sistema Gerenciador de Produtos, para uma panificadora e confeitaria. Eixo 3 — Projeto: Design Centrado no Usuário, Squad 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Variação da capa no tema de alto contraste do próprio protótipo. Escolha uma das duas e exclua a outra na trilha de miniaturas.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apresentação percorre quatro blocos: contexto, especificação, a solução em protótipo e a validação.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Contextualize: uma panificadora e confeitaria que concilia produtos prontos e encomendas, dependendo do controle de insumos.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Três dores: controle manual com erro, encomendas sem padrão, e falta de visibilidade entre vendas e estoque.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Objetivo geral e os específicos.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 que importa e para quem.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personas do projeto. Cada cartão deve ser preenchido com os dados do relatório: nome, perfil, objetivos e frustrações.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alternativas e mostre a lacuna do SGP.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Requisitos funcionais por módulo. Destaque os essenciais.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Requisitos não funcionais: usabilidade, desempenho, segurança, acessibilidade, portabilidade, manutenibilidade.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Dois atores e suas ações; o diagrama completo está no relatório.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diagrama traduz o domínio: usuários, pedidos, catálogo/produção/estoque e fornecimento.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começa a solução. Protótipo navegável em HTML/CSS/JS, com dois perfis (cliente e gerente), tema claro e modo escuro, e três níveis de fonte para acessibilidade.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B235B-A0C3-8FFF-9E3B-808A5A3577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55D386-F9FD-28D5-5836-3FB67D434B5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B5E015-2C7F-E2BF-6ED2-6DAC66B3C50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Jornada do cliente — etapas 1 e 2: explorar o catálogo e montar uma encomenda personalizada.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D1C80-1BFE-8487-B6DA-E8545DB1AE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18448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Jornada do cliente — etapas 1 e 2: explorar o catálogo e montar uma encomenda personalizada.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Jornada do cliente — etapas 3 e 4: revisar o carrinho e escolher entrega ou retirada.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Jornada do cliente — etapas 5 e 6: pagamento simulado e confirmação com encerramento do ciclo.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do gerente — painel administrativo e gestão de pedidos.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do gerente — gestão de produtos e estoque de insumos.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Visão do gerente — geração de relatórios e exemplo de relatório gerado.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ligamos o que foi proposto ao que o protótipo entrega. Cada objetivo/requisito tem uma tela correspondente.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guia de estilo dá consistência ao protótipo: paleta café/terracota inspirada em panificação, tipografia sem serifa e componentes ergonômicos.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mesmo guia no tema de alto contraste, ativado pela classe .theme-high-contrast. Amarelo de alta visibilidade para a marca, azul para destaques, fundo quase preto e bordas de alto contraste — voltado à acessibilidade visual.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 oito regras de ouro de Shneiderman, demonstradas com evidência nas telas. Parte 1: consistência, usabilidade universal, feedback e encerramento.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Parte 2: prevenção de erros, reversão de ações, controle do usuário e redução da carga de memória.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Estratégia de segurança e conformidade com a LGPD — Lei 13.709/2018.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Plano e relatório de testes. Atualize os números com os resultados reais do grupo.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que mudou depois dos testes — evidência do ciclo iterativo de design centrado no usuário.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Síntese do entregue e próximos passos: backend, persistência e implantação.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Referências em ABNT. Ajuste para as efetivamente usadas no relatório.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Agradeça e abra para perguntas. Insira os nomes dos integrantes do Squad 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47750" y="876300"/>
            <a:ext cx="28223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PUC MINAS · EIXO 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705558" y="876300"/>
            <a:ext cx="2788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SQUAD 05 · 2026 / 1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1047750" y="2562225"/>
            <a:ext cx="800100" cy="800100"/>
          </a:xfrm>
          <a:prstGeom prst="roundRect">
            <a:avLst>
              <a:gd name="adj" fmla="val 16667"/>
            </a:avLst>
          </a:prstGeom>
          <a:solidFill>
            <a:srgbClr val="5F34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1009650" y="2562225"/>
            <a:ext cx="87630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kern="0" spc="75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</a:t>
            </a:r>
            <a:endParaRPr lang="en-US" sz="2550" dirty="0"/>
          </a:p>
        </p:txBody>
      </p:sp>
      <p:sp>
        <p:nvSpPr>
          <p:cNvPr id="6" name="Text 4"/>
          <p:cNvSpPr/>
          <p:nvPr/>
        </p:nvSpPr>
        <p:spPr>
          <a:xfrm>
            <a:off x="2000250" y="2814638"/>
            <a:ext cx="727204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kern="0" spc="225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PROJETO: DESIGN CENTRADO NO USUÁRIO</a:t>
            </a:r>
            <a:endParaRPr lang="en-US" sz="2025" dirty="0"/>
          </a:p>
        </p:txBody>
      </p:sp>
      <p:sp>
        <p:nvSpPr>
          <p:cNvPr id="7" name="Text 5"/>
          <p:cNvSpPr/>
          <p:nvPr/>
        </p:nvSpPr>
        <p:spPr>
          <a:xfrm>
            <a:off x="1047750" y="3648075"/>
            <a:ext cx="16678275" cy="2667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1250" b="1" kern="0" spc="-300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Sistema Gerenciador de Produtos</a:t>
            </a:r>
            <a:endParaRPr lang="en-US" sz="11250" dirty="0"/>
          </a:p>
        </p:txBody>
      </p:sp>
      <p:sp>
        <p:nvSpPr>
          <p:cNvPr id="8" name="Text 6"/>
          <p:cNvSpPr/>
          <p:nvPr/>
        </p:nvSpPr>
        <p:spPr>
          <a:xfrm>
            <a:off x="1047750" y="6581775"/>
            <a:ext cx="11576685" cy="923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325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Plataforma para uma </a:t>
            </a:r>
            <a:r>
              <a:rPr lang="en-US" sz="2325" b="1" dirty="0">
                <a:solidFill>
                  <a:srgbClr val="261D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panificadora e confeitaria </a:t>
            </a:r>
            <a:r>
              <a:rPr lang="en-US" sz="2325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gerir catálogo, encomendas personalizadas, estoque de insumos e o fluxo administrativo em um só lugar.</a:t>
            </a:r>
            <a:endParaRPr lang="en-US" sz="2325" dirty="0"/>
          </a:p>
        </p:txBody>
      </p:sp>
      <p:sp>
        <p:nvSpPr>
          <p:cNvPr id="9" name="Shape 7"/>
          <p:cNvSpPr/>
          <p:nvPr/>
        </p:nvSpPr>
        <p:spPr>
          <a:xfrm>
            <a:off x="1047750" y="8886825"/>
            <a:ext cx="161925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47750" y="9144000"/>
            <a:ext cx="60144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Protótipo de alta fidelidade · HTML · CSS · JavaScript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198775" y="9144000"/>
            <a:ext cx="22456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Avaliação semestral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88281" y="2107555"/>
            <a:ext cx="65114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b="1" kern="0" spc="300" dirty="0">
                <a:solidFill>
                  <a:srgbClr val="E6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PUC MINAS · EIXO 3 · SQUAD 05 · 2026/1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8839200" y="2755255"/>
            <a:ext cx="609600" cy="19050"/>
          </a:xfrm>
          <a:prstGeom prst="rect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Shape 2"/>
          <p:cNvSpPr/>
          <p:nvPr/>
        </p:nvSpPr>
        <p:spPr>
          <a:xfrm>
            <a:off x="8686800" y="3155305"/>
            <a:ext cx="914400" cy="914400"/>
          </a:xfrm>
          <a:prstGeom prst="roundRect">
            <a:avLst>
              <a:gd name="adj" fmla="val 16667"/>
            </a:avLst>
          </a:prstGeom>
          <a:solidFill>
            <a:srgbClr val="FFD8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/>
          <p:nvPr/>
        </p:nvSpPr>
        <p:spPr>
          <a:xfrm>
            <a:off x="8648700" y="3155305"/>
            <a:ext cx="990600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850" b="1" dirty="0">
                <a:solidFill>
                  <a:srgbClr val="05050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</a:t>
            </a:r>
            <a:endParaRPr lang="en-US" sz="2850" dirty="0"/>
          </a:p>
        </p:txBody>
      </p:sp>
      <p:sp>
        <p:nvSpPr>
          <p:cNvPr id="6" name="Text 4"/>
          <p:cNvSpPr/>
          <p:nvPr/>
        </p:nvSpPr>
        <p:spPr>
          <a:xfrm>
            <a:off x="4226515" y="4355455"/>
            <a:ext cx="9834970" cy="1920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7800" b="1" kern="0" spc="-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Sistema Gerenciador de Produtos</a:t>
            </a:r>
            <a:endParaRPr lang="en-US" sz="7800" dirty="0"/>
          </a:p>
        </p:txBody>
      </p:sp>
      <p:sp>
        <p:nvSpPr>
          <p:cNvPr id="7" name="Text 5"/>
          <p:cNvSpPr/>
          <p:nvPr/>
        </p:nvSpPr>
        <p:spPr>
          <a:xfrm>
            <a:off x="4042410" y="6580436"/>
            <a:ext cx="10203180" cy="89415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ctr">
              <a:lnSpc>
                <a:spcPct val="155000"/>
              </a:lnSpc>
              <a:buNone/>
            </a:pPr>
            <a:r>
              <a:rPr lang="en-US" sz="2175" dirty="0">
                <a:solidFill>
                  <a:srgbClr val="E6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Gestão de catálogo, encomendas personalizadas, estoque e administração para panificadora e confeitaria.</a:t>
            </a:r>
            <a:endParaRPr lang="en-US" sz="2175" dirty="0"/>
          </a:p>
        </p:txBody>
      </p:sp>
      <p:sp>
        <p:nvSpPr>
          <p:cNvPr id="8" name="Text 6"/>
          <p:cNvSpPr/>
          <p:nvPr/>
        </p:nvSpPr>
        <p:spPr>
          <a:xfrm>
            <a:off x="5970307" y="7912745"/>
            <a:ext cx="634723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188" dirty="0">
                <a:solidFill>
                  <a:srgbClr val="69A7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PROJETO: DESIGN CENTRADO NO USUÁRIO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6499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SISTEMA GERENCIADOR DE PRODUTOS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535400" y="704850"/>
            <a:ext cx="876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Roteiro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552575"/>
            <a:ext cx="180213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Roteiro da apresentação</a:t>
            </a:r>
            <a:endParaRPr lang="en-US" sz="4350" dirty="0"/>
          </a:p>
        </p:txBody>
      </p:sp>
      <p:sp>
        <p:nvSpPr>
          <p:cNvPr id="7" name="Shape 5"/>
          <p:cNvSpPr/>
          <p:nvPr/>
        </p:nvSpPr>
        <p:spPr>
          <a:xfrm>
            <a:off x="952500" y="2608808"/>
            <a:ext cx="7810500" cy="3296096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323975" y="2942183"/>
            <a:ext cx="3729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</a:t>
            </a:r>
            <a:endParaRPr lang="en-US" sz="2100" dirty="0"/>
          </a:p>
        </p:txBody>
      </p:sp>
      <p:sp>
        <p:nvSpPr>
          <p:cNvPr id="9" name="Text 7"/>
          <p:cNvSpPr/>
          <p:nvPr/>
        </p:nvSpPr>
        <p:spPr>
          <a:xfrm>
            <a:off x="1792188" y="2961233"/>
            <a:ext cx="157637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5F34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CONTEXTO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323975" y="3399383"/>
            <a:ext cx="727957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Introdução, problema, objetivos, justificativa, personas e estado da arte.</a:t>
            </a:r>
            <a:endParaRPr lang="en-US" sz="2025" dirty="0"/>
          </a:p>
        </p:txBody>
      </p:sp>
      <p:sp>
        <p:nvSpPr>
          <p:cNvPr id="11" name="Shape 9"/>
          <p:cNvSpPr/>
          <p:nvPr/>
        </p:nvSpPr>
        <p:spPr>
          <a:xfrm>
            <a:off x="9525000" y="2608808"/>
            <a:ext cx="7810500" cy="3296096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896475" y="2942183"/>
            <a:ext cx="3729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0364688" y="2961233"/>
            <a:ext cx="235842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5F34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ESPECIFICAÇÃO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9896475" y="3399383"/>
            <a:ext cx="727957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Requisitos funcionais e não funcionais, casos de uso e diagrama de classes.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52500" y="6285905"/>
            <a:ext cx="7810500" cy="3296245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323975" y="6619280"/>
            <a:ext cx="3729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1792188" y="6638330"/>
            <a:ext cx="170341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5F34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SOLUÇÃO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323975" y="7076480"/>
            <a:ext cx="727957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Protótipo navegável, jornada do cliente, visão do gerente, guia de estilo e regras de ouro.</a:t>
            </a:r>
            <a:endParaRPr lang="en-US" sz="2025" dirty="0"/>
          </a:p>
        </p:txBody>
      </p:sp>
      <p:sp>
        <p:nvSpPr>
          <p:cNvPr id="19" name="Shape 17"/>
          <p:cNvSpPr/>
          <p:nvPr/>
        </p:nvSpPr>
        <p:spPr>
          <a:xfrm>
            <a:off x="9525000" y="6285905"/>
            <a:ext cx="7810500" cy="3296245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896475" y="6619280"/>
            <a:ext cx="37296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</a:t>
            </a:r>
            <a:endParaRPr lang="en-US" sz="2100" dirty="0"/>
          </a:p>
        </p:txBody>
      </p:sp>
      <p:sp>
        <p:nvSpPr>
          <p:cNvPr id="21" name="Text 19"/>
          <p:cNvSpPr/>
          <p:nvPr/>
        </p:nvSpPr>
        <p:spPr>
          <a:xfrm>
            <a:off x="10364688" y="6638330"/>
            <a:ext cx="1679183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kern="0" spc="113" dirty="0">
                <a:solidFill>
                  <a:srgbClr val="5F34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VALIDAÇÃO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9896475" y="7076480"/>
            <a:ext cx="7279577" cy="8096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Segurança e LGPD, testes, melhorias, considerações e referências.</a:t>
            </a:r>
            <a:endParaRPr lang="en-US" sz="202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6499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SISTEMA GERENCIADOR DE PRODUTOS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6305" y="70485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01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533525"/>
            <a:ext cx="180213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Introdução e contexto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52500" y="4804767"/>
            <a:ext cx="9094105" cy="2466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Uma </a:t>
            </a:r>
            <a:r>
              <a:rPr lang="en-US" sz="2550" b="1" dirty="0">
                <a:solidFill>
                  <a:srgbClr val="261D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panificadora e </a:t>
            </a:r>
            <a:r>
              <a:rPr lang="en-US" sz="2550" b="1" dirty="0" err="1">
                <a:solidFill>
                  <a:srgbClr val="261D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confeitaria</a:t>
            </a:r>
            <a:r>
              <a:rPr lang="en-US" sz="2550" b="1" dirty="0">
                <a:solidFill>
                  <a:srgbClr val="261D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equilibra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o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atendimento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de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produtos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de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pronta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entrega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com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pedidos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personalizados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, o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que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exige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um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controle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rigoroso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de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insumos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Entretanto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,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esta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operação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costuma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ser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gerida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de forma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descentralizada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planilhas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,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cadernos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e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mensagens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25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dispersas</a:t>
            </a:r>
            <a:r>
              <a:rPr lang="en-US" sz="25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  <a:endParaRPr lang="en-US" sz="2550" dirty="0"/>
          </a:p>
        </p:txBody>
      </p:sp>
      <p:sp>
        <p:nvSpPr>
          <p:cNvPr id="8" name="Shape 6"/>
          <p:cNvSpPr/>
          <p:nvPr/>
        </p:nvSpPr>
        <p:spPr>
          <a:xfrm>
            <a:off x="10543729" y="4419005"/>
            <a:ext cx="6791771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428625" dist="1714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10543729" y="5895380"/>
            <a:ext cx="6791771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10543729" y="4419005"/>
            <a:ext cx="6791771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0543729" y="4419005"/>
            <a:ext cx="47625" cy="1485900"/>
          </a:xfrm>
          <a:prstGeom prst="rect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7325975" y="4419005"/>
            <a:ext cx="9525" cy="1485900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0915204" y="4714280"/>
            <a:ext cx="669561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5F34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frentes</a:t>
            </a:r>
            <a:endParaRPr lang="en-US" sz="3900" dirty="0"/>
          </a:p>
        </p:txBody>
      </p:sp>
      <p:sp>
        <p:nvSpPr>
          <p:cNvPr id="14" name="Text 12"/>
          <p:cNvSpPr/>
          <p:nvPr/>
        </p:nvSpPr>
        <p:spPr>
          <a:xfrm>
            <a:off x="10915204" y="5342930"/>
            <a:ext cx="66956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Catálogo, produção e estoque operando em silos.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0543729" y="6133505"/>
            <a:ext cx="6791771" cy="1485900"/>
          </a:xfrm>
          <a:prstGeom prst="roundRect">
            <a:avLst>
              <a:gd name="adj" fmla="val 5128"/>
            </a:avLst>
          </a:prstGeom>
          <a:solidFill>
            <a:srgbClr val="FFFFFF"/>
          </a:solidFill>
          <a:ln/>
          <a:effectLst>
            <a:outerShdw blurRad="428625" dist="1714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10543729" y="7609880"/>
            <a:ext cx="6791771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10543729" y="6133505"/>
            <a:ext cx="6791771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10543729" y="6133505"/>
            <a:ext cx="47625" cy="1485900"/>
          </a:xfrm>
          <a:prstGeom prst="rect">
            <a:avLst/>
          </a:prstGeom>
          <a:solidFill>
            <a:srgbClr val="3F826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17325975" y="6133505"/>
            <a:ext cx="9525" cy="1485900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0915204" y="6428780"/>
            <a:ext cx="6695614" cy="609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5F34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sistema</a:t>
            </a:r>
            <a:endParaRPr lang="en-US" sz="3900" dirty="0"/>
          </a:p>
        </p:txBody>
      </p:sp>
      <p:sp>
        <p:nvSpPr>
          <p:cNvPr id="21" name="Text 19"/>
          <p:cNvSpPr/>
          <p:nvPr/>
        </p:nvSpPr>
        <p:spPr>
          <a:xfrm>
            <a:off x="10915204" y="7057430"/>
            <a:ext cx="66956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SGP integra essas frentes em um só fluxo.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6499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SISTEMA GERENCIADOR DE PRODUTOS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6305" y="70485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02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533525"/>
            <a:ext cx="180213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problema</a:t>
            </a:r>
            <a:endParaRPr lang="en-US" sz="4350" dirty="0"/>
          </a:p>
        </p:txBody>
      </p:sp>
      <p:sp>
        <p:nvSpPr>
          <p:cNvPr id="7" name="Shape 5"/>
          <p:cNvSpPr/>
          <p:nvPr/>
        </p:nvSpPr>
        <p:spPr>
          <a:xfrm>
            <a:off x="952500" y="4634508"/>
            <a:ext cx="5206901" cy="2712244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285875" y="5005983"/>
            <a:ext cx="49941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1285875" y="5482233"/>
            <a:ext cx="4994166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Controle manual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285875" y="5939433"/>
            <a:ext cx="4676355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Planilhas e cadernos geram erros de estoque, divergências de saldo e retrabalho constante.</a:t>
            </a:r>
            <a:endParaRPr lang="en-US" sz="1875" dirty="0"/>
          </a:p>
        </p:txBody>
      </p:sp>
      <p:sp>
        <p:nvSpPr>
          <p:cNvPr id="11" name="Shape 9"/>
          <p:cNvSpPr/>
          <p:nvPr/>
        </p:nvSpPr>
        <p:spPr>
          <a:xfrm>
            <a:off x="6540401" y="4634508"/>
            <a:ext cx="5207050" cy="2712244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873776" y="5005983"/>
            <a:ext cx="49943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ii.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6873776" y="5482233"/>
            <a:ext cx="49943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Encomendas sem padrão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6873776" y="5939433"/>
            <a:ext cx="4676509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Prazos, fotos de referência e mensagens dos pedidos personalizados se perdem entre canais.</a:t>
            </a:r>
            <a:endParaRPr lang="en-US" sz="1875" dirty="0"/>
          </a:p>
        </p:txBody>
      </p:sp>
      <p:sp>
        <p:nvSpPr>
          <p:cNvPr id="15" name="Shape 13"/>
          <p:cNvSpPr/>
          <p:nvPr/>
        </p:nvSpPr>
        <p:spPr>
          <a:xfrm>
            <a:off x="12128450" y="4634508"/>
            <a:ext cx="5207050" cy="2712244"/>
          </a:xfrm>
          <a:prstGeom prst="roundRect">
            <a:avLst>
              <a:gd name="adj" fmla="val 280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2461825" y="5005983"/>
            <a:ext cx="49943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iii.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2461825" y="5482233"/>
            <a:ext cx="499433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Falta de visibilidade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2461825" y="5939433"/>
            <a:ext cx="4676509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Não há ligação entre vendas, produção e </a:t>
            </a:r>
            <a:r>
              <a:rPr lang="en-US" sz="1875" dirty="0" err="1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reposição</a:t>
            </a:r>
            <a:r>
              <a:rPr lang="en-US" sz="1875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 A </a:t>
            </a:r>
            <a:r>
              <a:rPr lang="en-US" sz="1875" dirty="0" err="1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falta</a:t>
            </a:r>
            <a:r>
              <a:rPr lang="en-US" sz="1875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de insumo só aparece tarde.</a:t>
            </a:r>
            <a:endParaRPr lang="en-US" sz="18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6499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SISTEMA GERENCIADOR DE PRODUTOS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6305" y="70485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03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533525"/>
            <a:ext cx="180213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Objetivos do trabalho</a:t>
            </a:r>
            <a:endParaRPr lang="en-US" sz="4350" dirty="0"/>
          </a:p>
        </p:txBody>
      </p:sp>
      <p:sp>
        <p:nvSpPr>
          <p:cNvPr id="7" name="Shape 5"/>
          <p:cNvSpPr/>
          <p:nvPr/>
        </p:nvSpPr>
        <p:spPr>
          <a:xfrm>
            <a:off x="952500" y="2456408"/>
            <a:ext cx="8315325" cy="7125742"/>
          </a:xfrm>
          <a:prstGeom prst="roundRect">
            <a:avLst>
              <a:gd name="adj" fmla="val 1069"/>
            </a:avLst>
          </a:prstGeom>
          <a:solidFill>
            <a:srgbClr val="5F3422"/>
          </a:solidFill>
          <a:ln/>
          <a:effectLst>
            <a:outerShdw blurRad="428625" dist="171450" dir="5400000" algn="bl" rotWithShape="0">
              <a:srgbClr val="442B1E">
                <a:alpha val="1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409700" y="4803874"/>
            <a:ext cx="81410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E3B7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OBJETIVO GERAL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409700" y="5261074"/>
            <a:ext cx="7622953" cy="20115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2775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Desenvolver um sistema que integre catálogo, encomendas personalizadas e controle de estoque de insumos em um único fluxo de trabalho.</a:t>
            </a:r>
            <a:endParaRPr lang="en-US" sz="2775" dirty="0"/>
          </a:p>
        </p:txBody>
      </p:sp>
      <p:sp>
        <p:nvSpPr>
          <p:cNvPr id="10" name="Text 8"/>
          <p:cNvSpPr/>
          <p:nvPr/>
        </p:nvSpPr>
        <p:spPr>
          <a:xfrm>
            <a:off x="9934575" y="3790355"/>
            <a:ext cx="814101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OBJETIVOS ESPECÍFICOS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934575" y="4361855"/>
            <a:ext cx="476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0525125" y="4304705"/>
            <a:ext cx="701468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Centralizar o catálogo de produtos e o registro de encomendas personalizadas.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9934575" y="5409605"/>
            <a:ext cx="476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b.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0525125" y="5352455"/>
            <a:ext cx="701468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Controlar saldo, reservas e movimentações de estoque de insumos.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9934575" y="6457355"/>
            <a:ext cx="476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10525125" y="6400205"/>
            <a:ext cx="701468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Apoiar a gestão com painel, pedidos e relatórios de produtos e insumos.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9934575" y="7505105"/>
            <a:ext cx="4762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d.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0525125" y="7447955"/>
            <a:ext cx="701468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Entregar uma interface usável e acessível, validada por testes com usuários.</a:t>
            </a:r>
            <a:endParaRPr lang="en-US" sz="2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6499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SISTEMA GERENCIADOR DE PRODUTOS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6305" y="70485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04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533525"/>
            <a:ext cx="180213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Justificativa e público-alvo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52500" y="4866680"/>
            <a:ext cx="937245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JUSTIFICATIVA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5342930"/>
            <a:ext cx="8776022" cy="1866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sz="24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digitalização do fluxo reduz perdas de insumo, evita atrasos em encomendas e devolve ao empreendedor tempo e </a:t>
            </a:r>
            <a:r>
              <a:rPr lang="en-US" sz="240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previsibilidade</a:t>
            </a:r>
            <a:r>
              <a:rPr lang="en-US" sz="24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 </a:t>
            </a:r>
            <a:r>
              <a:rPr lang="en-US" sz="240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Fatores</a:t>
            </a:r>
            <a:r>
              <a:rPr lang="en-US" sz="24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decisivos para a sobrevivência de micro e pequenos negócios.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10234910" y="2456408"/>
            <a:ext cx="9525" cy="7125742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10815935" y="4633317"/>
            <a:ext cx="71715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PÚBLICO-ALVO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815935" y="5147667"/>
            <a:ext cx="717152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Proprietários e gerentes</a:t>
            </a:r>
            <a:endParaRPr lang="en-US" sz="2175" dirty="0"/>
          </a:p>
        </p:txBody>
      </p:sp>
      <p:sp>
        <p:nvSpPr>
          <p:cNvPr id="12" name="Text 10"/>
          <p:cNvSpPr/>
          <p:nvPr/>
        </p:nvSpPr>
        <p:spPr>
          <a:xfrm>
            <a:off x="10815935" y="5461992"/>
            <a:ext cx="6715152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Gestão de produção alimentícia sob encomenda em panificadoras e confeitarias.</a:t>
            </a:r>
            <a:endParaRPr lang="en-US" sz="1875" dirty="0"/>
          </a:p>
        </p:txBody>
      </p:sp>
      <p:sp>
        <p:nvSpPr>
          <p:cNvPr id="13" name="Text 11"/>
          <p:cNvSpPr/>
          <p:nvPr/>
        </p:nvSpPr>
        <p:spPr>
          <a:xfrm>
            <a:off x="10815935" y="6400205"/>
            <a:ext cx="7171521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75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Equipe e clientes</a:t>
            </a:r>
            <a:endParaRPr lang="en-US" sz="2175" dirty="0"/>
          </a:p>
        </p:txBody>
      </p:sp>
      <p:sp>
        <p:nvSpPr>
          <p:cNvPr id="14" name="Text 12"/>
          <p:cNvSpPr/>
          <p:nvPr/>
        </p:nvSpPr>
        <p:spPr>
          <a:xfrm>
            <a:off x="10815935" y="6714530"/>
            <a:ext cx="6715152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Funcionários que registram pedidos e clientes que compram e encomendam.</a:t>
            </a:r>
            <a:endParaRPr lang="en-US" sz="18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6499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SISTEMA GERENCIADOR DE PRODUTOS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6305" y="70485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05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533525"/>
            <a:ext cx="180213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Personas do projeto</a:t>
            </a:r>
            <a:endParaRPr lang="en-US" sz="4350" dirty="0"/>
          </a:p>
        </p:txBody>
      </p:sp>
      <p:sp>
        <p:nvSpPr>
          <p:cNvPr id="7" name="Shape 5"/>
          <p:cNvSpPr/>
          <p:nvPr/>
        </p:nvSpPr>
        <p:spPr>
          <a:xfrm>
            <a:off x="952500" y="2399258"/>
            <a:ext cx="3063180" cy="6350943"/>
          </a:xfrm>
          <a:prstGeom prst="roundRect">
            <a:avLst>
              <a:gd name="adj" fmla="val 2488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323850" dist="1333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228725" y="2694533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AE7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190625" y="269453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762125" y="2742158"/>
            <a:ext cx="167934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Matheus, 29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1228725" y="3170783"/>
            <a:ext cx="258693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MOTOBOY · CLIENTE COM PRESSA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28725" y="3932783"/>
            <a:ext cx="27618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OBJETIVOS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28725" y="4275683"/>
            <a:ext cx="2586930" cy="1695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Ver a disponibilidade no catálogo, fazer pedidos antecipados, agendar retirada e repetir pedidos sem atraso.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228725" y="6123384"/>
            <a:ext cx="27618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FRUSTRAÇÕES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228725" y="6466284"/>
            <a:ext cx="2586930" cy="1363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Produto esgotado ao chegar, filas e espera, e muitos passos para um pedido simples.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282380" y="2399258"/>
            <a:ext cx="3063180" cy="6350943"/>
          </a:xfrm>
          <a:prstGeom prst="roundRect">
            <a:avLst>
              <a:gd name="adj" fmla="val 2488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323850" dist="1333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4558605" y="2694533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AE7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520505" y="269453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92005" y="2742158"/>
            <a:ext cx="118824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Carla, 65</a:t>
            </a:r>
            <a:endParaRPr lang="en-US" sz="2100" dirty="0"/>
          </a:p>
        </p:txBody>
      </p:sp>
      <p:sp>
        <p:nvSpPr>
          <p:cNvPr id="20" name="Text 18"/>
          <p:cNvSpPr/>
          <p:nvPr/>
        </p:nvSpPr>
        <p:spPr>
          <a:xfrm>
            <a:off x="4558605" y="3170783"/>
            <a:ext cx="2586930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PROPRIETÁRIA DA CONFEITARIA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558605" y="3932783"/>
            <a:ext cx="27618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OBJETIVOS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58605" y="4275683"/>
            <a:ext cx="2586930" cy="1695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Controlar encomendas sem erros, gerenciar o estoque de insumos e acompanhar vendas e produção.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4558605" y="6123384"/>
            <a:ext cx="27618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FRUSTRAÇÕES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558605" y="6466284"/>
            <a:ext cx="2586930" cy="2026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Anotações manuais sujeitas a erro, falta de integração entre atendimento e produção e sem visão consolidada.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7612261" y="2399258"/>
            <a:ext cx="3063329" cy="6350943"/>
          </a:xfrm>
          <a:prstGeom prst="roundRect">
            <a:avLst>
              <a:gd name="adj" fmla="val 2487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323850" dist="1333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Shape 24"/>
          <p:cNvSpPr/>
          <p:nvPr/>
        </p:nvSpPr>
        <p:spPr>
          <a:xfrm>
            <a:off x="7888486" y="2694533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AE7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7850386" y="269453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8421886" y="2742158"/>
            <a:ext cx="1232297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Lúcio, 34</a:t>
            </a:r>
            <a:endParaRPr lang="en-US" sz="2100" dirty="0"/>
          </a:p>
        </p:txBody>
      </p:sp>
      <p:sp>
        <p:nvSpPr>
          <p:cNvPr id="29" name="Text 27"/>
          <p:cNvSpPr/>
          <p:nvPr/>
        </p:nvSpPr>
        <p:spPr>
          <a:xfrm>
            <a:off x="7888486" y="3170783"/>
            <a:ext cx="258707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ARQUITETO · ORGANIZA EVENTOS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888486" y="3932783"/>
            <a:ext cx="27619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OBJETIVOS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7888486" y="4275683"/>
            <a:ext cx="2587079" cy="1695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Personalizar bolos, ver o catálogo detalhado, garantir precisão nos pedidos e acompanhar prazos.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888486" y="6123384"/>
            <a:ext cx="27619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FRUSTRAÇÕES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888486" y="6466284"/>
            <a:ext cx="2587079" cy="1695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Falta de informações detalhadas, dificuldade de personalização e pouca clareza sobre status e prazos.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10942290" y="2399258"/>
            <a:ext cx="3063180" cy="6350943"/>
          </a:xfrm>
          <a:prstGeom prst="roundRect">
            <a:avLst>
              <a:gd name="adj" fmla="val 2488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323850" dist="1333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Shape 33"/>
          <p:cNvSpPr/>
          <p:nvPr/>
        </p:nvSpPr>
        <p:spPr>
          <a:xfrm>
            <a:off x="11218515" y="2694533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AE7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11180415" y="269453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1751915" y="2742158"/>
            <a:ext cx="163056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Eusébio, 82</a:t>
            </a:r>
            <a:endParaRPr lang="en-US" sz="2100" dirty="0"/>
          </a:p>
        </p:txBody>
      </p:sp>
      <p:sp>
        <p:nvSpPr>
          <p:cNvPr id="38" name="Text 36"/>
          <p:cNvSpPr/>
          <p:nvPr/>
        </p:nvSpPr>
        <p:spPr>
          <a:xfrm>
            <a:off x="11218515" y="3170783"/>
            <a:ext cx="2586930" cy="1104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APOSENTADO · BAIXA FAMILIARIDADE DIGITAL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1218515" y="4466183"/>
            <a:ext cx="27618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OBJETIVOS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1218515" y="4809083"/>
            <a:ext cx="2586930" cy="1695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Fazer pedidos sem sair de casa, receber informações claras e solicitar entrega com facilidade.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1218515" y="6656784"/>
            <a:ext cx="27618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FRUSTRAÇÕES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1218515" y="6999684"/>
            <a:ext cx="2586930" cy="13638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Interfaces complexas, excesso de informação na tela e processos longos e confusos.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4272171" y="2399258"/>
            <a:ext cx="3063329" cy="6350943"/>
          </a:xfrm>
          <a:prstGeom prst="roundRect">
            <a:avLst>
              <a:gd name="adj" fmla="val 2487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323850" dist="1333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44" name="Shape 42"/>
          <p:cNvSpPr/>
          <p:nvPr/>
        </p:nvSpPr>
        <p:spPr>
          <a:xfrm>
            <a:off x="14548396" y="2694533"/>
            <a:ext cx="400050" cy="400050"/>
          </a:xfrm>
          <a:prstGeom prst="roundRect">
            <a:avLst>
              <a:gd name="adj" fmla="val 19048"/>
            </a:avLst>
          </a:prstGeom>
          <a:solidFill>
            <a:srgbClr val="FAE7D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43"/>
          <p:cNvSpPr/>
          <p:nvPr/>
        </p:nvSpPr>
        <p:spPr>
          <a:xfrm>
            <a:off x="14510296" y="2694533"/>
            <a:ext cx="4762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800" dirty="0"/>
          </a:p>
        </p:txBody>
      </p:sp>
      <p:sp>
        <p:nvSpPr>
          <p:cNvPr id="46" name="Text 44"/>
          <p:cNvSpPr/>
          <p:nvPr/>
        </p:nvSpPr>
        <p:spPr>
          <a:xfrm>
            <a:off x="15081796" y="2742158"/>
            <a:ext cx="145162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Giselle, 27</a:t>
            </a:r>
            <a:endParaRPr lang="en-US" sz="2100" dirty="0"/>
          </a:p>
        </p:txBody>
      </p:sp>
      <p:sp>
        <p:nvSpPr>
          <p:cNvPr id="47" name="Text 45"/>
          <p:cNvSpPr/>
          <p:nvPr/>
        </p:nvSpPr>
        <p:spPr>
          <a:xfrm>
            <a:off x="14548396" y="3170783"/>
            <a:ext cx="258707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75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ATENDENTE DA PANIFICADORA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4548396" y="3932783"/>
            <a:ext cx="27619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OBJETIVOS</a:t>
            </a:r>
            <a:endParaRPr lang="en-US" sz="1800" dirty="0"/>
          </a:p>
        </p:txBody>
      </p:sp>
      <p:sp>
        <p:nvSpPr>
          <p:cNvPr id="49" name="Text 47"/>
          <p:cNvSpPr/>
          <p:nvPr/>
        </p:nvSpPr>
        <p:spPr>
          <a:xfrm>
            <a:off x="14548396" y="4275683"/>
            <a:ext cx="2587079" cy="169530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Registrar pedidos rapidamente, consultar o estoque em tempo real e atualizar status sem erros.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4548396" y="6123384"/>
            <a:ext cx="276196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FRUSTRAÇÕES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4548396" y="6466284"/>
            <a:ext cx="2587079" cy="20267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Informações desatualizadas, retrabalho por erros de registro e controles paralelos em papel/planilhas.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6499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SISTEMA GERENCIADOR DE PRODUTOS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6305" y="70485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06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476375"/>
            <a:ext cx="180213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Estado da arte</a:t>
            </a:r>
            <a:endParaRPr lang="en-US" sz="4350" dirty="0"/>
          </a:p>
        </p:txBody>
      </p:sp>
      <p:sp>
        <p:nvSpPr>
          <p:cNvPr id="7" name="Shape 5"/>
          <p:cNvSpPr/>
          <p:nvPr/>
        </p:nvSpPr>
        <p:spPr>
          <a:xfrm>
            <a:off x="952500" y="3487936"/>
            <a:ext cx="16383000" cy="4181475"/>
          </a:xfrm>
          <a:prstGeom prst="roundRect">
            <a:avLst>
              <a:gd name="adj" fmla="val 1822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62025" y="3497461"/>
            <a:ext cx="16363950" cy="647700"/>
          </a:xfrm>
          <a:prstGeom prst="rect">
            <a:avLst/>
          </a:prstGeom>
          <a:solidFill>
            <a:srgbClr val="5F34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228725" y="3687961"/>
            <a:ext cx="44774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SOLUÇÃO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093619" y="3687961"/>
            <a:ext cx="53886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PONTOS FORTES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1843147" y="3687961"/>
            <a:ext cx="53884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LIMITAÇÃO PARA O DOMÍNIO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62025" y="4145161"/>
            <a:ext cx="163639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228725" y="4402336"/>
            <a:ext cx="447744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Planilhas</a:t>
            </a:r>
            <a:endParaRPr lang="en-US" sz="2100" dirty="0"/>
          </a:p>
        </p:txBody>
      </p:sp>
      <p:sp>
        <p:nvSpPr>
          <p:cNvPr id="14" name="Shape 12"/>
          <p:cNvSpPr/>
          <p:nvPr/>
        </p:nvSpPr>
        <p:spPr>
          <a:xfrm>
            <a:off x="5826919" y="4154686"/>
            <a:ext cx="9525" cy="1162050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6103144" y="4402336"/>
            <a:ext cx="537908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Flexíveis e gratuitas.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11576447" y="4154686"/>
            <a:ext cx="9525" cy="1162050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1852672" y="4402336"/>
            <a:ext cx="537893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 regras de negócio; erro manual e zero rastreabilidade.</a:t>
            </a:r>
            <a:endParaRPr lang="en-US" sz="1875" dirty="0"/>
          </a:p>
        </p:txBody>
      </p:sp>
      <p:sp>
        <p:nvSpPr>
          <p:cNvPr id="18" name="Shape 16"/>
          <p:cNvSpPr/>
          <p:nvPr/>
        </p:nvSpPr>
        <p:spPr>
          <a:xfrm>
            <a:off x="962025" y="5316736"/>
            <a:ext cx="16363950" cy="1171575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962025" y="5316736"/>
            <a:ext cx="163639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28725" y="5573911"/>
            <a:ext cx="447744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ERPs genéricos</a:t>
            </a:r>
            <a:endParaRPr lang="en-US" sz="2100" dirty="0"/>
          </a:p>
        </p:txBody>
      </p:sp>
      <p:sp>
        <p:nvSpPr>
          <p:cNvPr id="21" name="Shape 19"/>
          <p:cNvSpPr/>
          <p:nvPr/>
        </p:nvSpPr>
        <p:spPr>
          <a:xfrm>
            <a:off x="5826919" y="5326261"/>
            <a:ext cx="9525" cy="1162050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6103144" y="5573911"/>
            <a:ext cx="537908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Controle robusto de estoque.</a:t>
            </a:r>
            <a:endParaRPr lang="en-US" sz="1875" dirty="0"/>
          </a:p>
        </p:txBody>
      </p:sp>
      <p:sp>
        <p:nvSpPr>
          <p:cNvPr id="23" name="Shape 21"/>
          <p:cNvSpPr/>
          <p:nvPr/>
        </p:nvSpPr>
        <p:spPr>
          <a:xfrm>
            <a:off x="11576447" y="5326261"/>
            <a:ext cx="9525" cy="1162050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1852672" y="5573911"/>
            <a:ext cx="537893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Caros e complexos; não tratam encomenda personalizada e receita.</a:t>
            </a:r>
            <a:endParaRPr lang="en-US" sz="1875" dirty="0"/>
          </a:p>
        </p:txBody>
      </p:sp>
      <p:sp>
        <p:nvSpPr>
          <p:cNvPr id="25" name="Shape 23"/>
          <p:cNvSpPr/>
          <p:nvPr/>
        </p:nvSpPr>
        <p:spPr>
          <a:xfrm>
            <a:off x="962025" y="6488311"/>
            <a:ext cx="163639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228725" y="6745486"/>
            <a:ext cx="447744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Apps de delivery</a:t>
            </a:r>
            <a:endParaRPr lang="en-US" sz="2100" dirty="0"/>
          </a:p>
        </p:txBody>
      </p:sp>
      <p:sp>
        <p:nvSpPr>
          <p:cNvPr id="27" name="Shape 25"/>
          <p:cNvSpPr/>
          <p:nvPr/>
        </p:nvSpPr>
        <p:spPr>
          <a:xfrm>
            <a:off x="5826919" y="6497836"/>
            <a:ext cx="9525" cy="1162050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103144" y="6745486"/>
            <a:ext cx="5379089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Boa experiência de pedido.</a:t>
            </a:r>
            <a:endParaRPr lang="en-US" sz="1875" dirty="0"/>
          </a:p>
        </p:txBody>
      </p:sp>
      <p:sp>
        <p:nvSpPr>
          <p:cNvPr id="29" name="Shape 27"/>
          <p:cNvSpPr/>
          <p:nvPr/>
        </p:nvSpPr>
        <p:spPr>
          <a:xfrm>
            <a:off x="11576447" y="6497836"/>
            <a:ext cx="9525" cy="1162050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1852672" y="6745486"/>
            <a:ext cx="5378936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Focados em venda; ignoram produção e insumos.</a:t>
            </a:r>
            <a:endParaRPr lang="en-US" sz="1875" dirty="0"/>
          </a:p>
        </p:txBody>
      </p:sp>
      <p:sp>
        <p:nvSpPr>
          <p:cNvPr id="31" name="Text 29"/>
          <p:cNvSpPr/>
          <p:nvPr/>
        </p:nvSpPr>
        <p:spPr>
          <a:xfrm>
            <a:off x="952500" y="7955161"/>
            <a:ext cx="18021300" cy="4238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025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Lacuna: </a:t>
            </a:r>
            <a:r>
              <a:rPr lang="en-US" sz="2025" dirty="0">
                <a:solidFill>
                  <a:srgbClr val="261D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nenhuma solução une, de forma simples e acessível, encomenda personalizada, receita e estoque de </a:t>
            </a:r>
            <a:r>
              <a:rPr lang="en-US" sz="2025" dirty="0" err="1">
                <a:solidFill>
                  <a:srgbClr val="261D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insumos</a:t>
            </a:r>
            <a:r>
              <a:rPr lang="en-US" sz="2025" dirty="0">
                <a:solidFill>
                  <a:srgbClr val="261D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, </a:t>
            </a:r>
            <a:r>
              <a:rPr lang="en-US" sz="2025" dirty="0" err="1">
                <a:solidFill>
                  <a:srgbClr val="261D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exceto</a:t>
            </a:r>
            <a:r>
              <a:rPr lang="en-US" sz="2025" dirty="0">
                <a:solidFill>
                  <a:srgbClr val="261D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2025" dirty="0" err="1">
                <a:solidFill>
                  <a:srgbClr val="261D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pelo</a:t>
            </a:r>
            <a:r>
              <a:rPr lang="en-US" sz="2025" dirty="0">
                <a:solidFill>
                  <a:srgbClr val="261D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2025" b="1" dirty="0">
                <a:solidFill>
                  <a:srgbClr val="261D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</a:t>
            </a:r>
            <a:r>
              <a:rPr lang="en-US" sz="2025" dirty="0">
                <a:solidFill>
                  <a:srgbClr val="261D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  <a:endParaRPr lang="en-US" sz="20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6499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SISTEMA GERENCIADOR DE PRODUTOS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6305" y="70485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07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533525"/>
            <a:ext cx="180213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Requisitos funcionais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52500" y="4662636"/>
            <a:ext cx="8191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RF01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1905000" y="4615011"/>
            <a:ext cx="7161848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Cadastrar e manter produtos do catálogo com preço e categoria.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9429750" y="4662636"/>
            <a:ext cx="8191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RF02</a:t>
            </a:r>
            <a:endParaRPr lang="en-US" sz="1875" dirty="0"/>
          </a:p>
        </p:txBody>
      </p:sp>
      <p:sp>
        <p:nvSpPr>
          <p:cNvPr id="10" name="Text 8"/>
          <p:cNvSpPr/>
          <p:nvPr/>
        </p:nvSpPr>
        <p:spPr>
          <a:xfrm>
            <a:off x="10382250" y="4615011"/>
            <a:ext cx="7170539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Registrar pedidos com itens, tipo de entrega e valor total.</a:t>
            </a:r>
            <a:endParaRPr lang="en-US" sz="2025" dirty="0"/>
          </a:p>
        </p:txBody>
      </p:sp>
      <p:sp>
        <p:nvSpPr>
          <p:cNvPr id="11" name="Text 9"/>
          <p:cNvSpPr/>
          <p:nvPr/>
        </p:nvSpPr>
        <p:spPr>
          <a:xfrm>
            <a:off x="952500" y="5579715"/>
            <a:ext cx="8191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RF03</a:t>
            </a:r>
            <a:endParaRPr lang="en-US" sz="1875" dirty="0"/>
          </a:p>
        </p:txBody>
      </p:sp>
      <p:sp>
        <p:nvSpPr>
          <p:cNvPr id="12" name="Text 10"/>
          <p:cNvSpPr/>
          <p:nvPr/>
        </p:nvSpPr>
        <p:spPr>
          <a:xfrm>
            <a:off x="1905000" y="5532090"/>
            <a:ext cx="7161848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Criar encomenda personalizada com formato, recheio, mensagem e referência.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9429750" y="5579715"/>
            <a:ext cx="8191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RF04</a:t>
            </a:r>
            <a:endParaRPr lang="en-US" sz="1875" dirty="0"/>
          </a:p>
        </p:txBody>
      </p:sp>
      <p:sp>
        <p:nvSpPr>
          <p:cNvPr id="14" name="Text 12"/>
          <p:cNvSpPr/>
          <p:nvPr/>
        </p:nvSpPr>
        <p:spPr>
          <a:xfrm>
            <a:off x="10382250" y="5532090"/>
            <a:ext cx="537790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Cadastrar insumos e fornecedores padrão.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52500" y="6496794"/>
            <a:ext cx="8191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RF05</a:t>
            </a:r>
            <a:endParaRPr lang="en-US" sz="1875" dirty="0"/>
          </a:p>
        </p:txBody>
      </p:sp>
      <p:sp>
        <p:nvSpPr>
          <p:cNvPr id="16" name="Text 14"/>
          <p:cNvSpPr/>
          <p:nvPr/>
        </p:nvSpPr>
        <p:spPr>
          <a:xfrm>
            <a:off x="1905000" y="6449169"/>
            <a:ext cx="673032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Controlar saldo, reserva e movimentação de estoque.</a:t>
            </a:r>
            <a:endParaRPr lang="en-US" sz="2025" dirty="0"/>
          </a:p>
        </p:txBody>
      </p:sp>
      <p:sp>
        <p:nvSpPr>
          <p:cNvPr id="17" name="Text 15"/>
          <p:cNvSpPr/>
          <p:nvPr/>
        </p:nvSpPr>
        <p:spPr>
          <a:xfrm>
            <a:off x="9429750" y="6496794"/>
            <a:ext cx="8191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RF06</a:t>
            </a:r>
            <a:endParaRPr lang="en-US" sz="1875" dirty="0"/>
          </a:p>
        </p:txBody>
      </p:sp>
      <p:sp>
        <p:nvSpPr>
          <p:cNvPr id="18" name="Text 16"/>
          <p:cNvSpPr/>
          <p:nvPr/>
        </p:nvSpPr>
        <p:spPr>
          <a:xfrm>
            <a:off x="10382250" y="6449169"/>
            <a:ext cx="624213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Estimar o consumo de insumos e gerar relatórios.</a:t>
            </a:r>
            <a:endParaRPr lang="en-US" sz="2025" dirty="0"/>
          </a:p>
        </p:txBody>
      </p:sp>
      <p:sp>
        <p:nvSpPr>
          <p:cNvPr id="19" name="Text 17"/>
          <p:cNvSpPr/>
          <p:nvPr/>
        </p:nvSpPr>
        <p:spPr>
          <a:xfrm>
            <a:off x="952500" y="7041059"/>
            <a:ext cx="8191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RF07</a:t>
            </a:r>
            <a:endParaRPr lang="en-US" sz="1875" dirty="0"/>
          </a:p>
        </p:txBody>
      </p:sp>
      <p:sp>
        <p:nvSpPr>
          <p:cNvPr id="20" name="Text 18"/>
          <p:cNvSpPr/>
          <p:nvPr/>
        </p:nvSpPr>
        <p:spPr>
          <a:xfrm>
            <a:off x="1905000" y="6993434"/>
            <a:ext cx="5110237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Sinalizar insumos abaixo do nível crítico.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9429750" y="7041059"/>
            <a:ext cx="8191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RF08</a:t>
            </a:r>
            <a:endParaRPr lang="en-US" sz="1875" dirty="0"/>
          </a:p>
        </p:txBody>
      </p:sp>
      <p:sp>
        <p:nvSpPr>
          <p:cNvPr id="22" name="Text 20"/>
          <p:cNvSpPr/>
          <p:nvPr/>
        </p:nvSpPr>
        <p:spPr>
          <a:xfrm>
            <a:off x="10382250" y="6993434"/>
            <a:ext cx="7610758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Gerenciar pedidos e alterar status pelo painel administrativo.</a:t>
            </a:r>
            <a:endParaRPr lang="en-US" sz="20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6499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SISTEMA GERENCIADOR DE PRODUTOS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6305" y="70485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08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533525"/>
            <a:ext cx="180213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Requisitos não funcionais</a:t>
            </a:r>
            <a:endParaRPr lang="en-US" sz="4350" dirty="0"/>
          </a:p>
        </p:txBody>
      </p:sp>
      <p:sp>
        <p:nvSpPr>
          <p:cNvPr id="7" name="Shape 5"/>
          <p:cNvSpPr/>
          <p:nvPr/>
        </p:nvSpPr>
        <p:spPr>
          <a:xfrm>
            <a:off x="952500" y="4156174"/>
            <a:ext cx="5143500" cy="1663005"/>
          </a:xfrm>
          <a:prstGeom prst="roundRect">
            <a:avLst>
              <a:gd name="adj" fmla="val 4582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266825" y="4470499"/>
            <a:ext cx="80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RNF01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2124373" y="4451449"/>
            <a:ext cx="152906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Usabilidade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266825" y="4861024"/>
            <a:ext cx="465029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Tarefas principais em poucos passos, com linguagem do domínio.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6572250" y="4156174"/>
            <a:ext cx="5143500" cy="1663005"/>
          </a:xfrm>
          <a:prstGeom prst="roundRect">
            <a:avLst>
              <a:gd name="adj" fmla="val 4582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886575" y="4470499"/>
            <a:ext cx="80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RNF02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744123" y="4451449"/>
            <a:ext cx="171061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Desempenho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6886575" y="4861024"/>
            <a:ext cx="465029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Resposta da interface inferior a 2 segundos nas telas-chave.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12192000" y="4156174"/>
            <a:ext cx="5143500" cy="1663005"/>
          </a:xfrm>
          <a:prstGeom prst="roundRect">
            <a:avLst>
              <a:gd name="adj" fmla="val 4582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2506325" y="4470499"/>
            <a:ext cx="80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RNF03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363873" y="4451449"/>
            <a:ext cx="139301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Segurança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12506325" y="4861024"/>
            <a:ext cx="465029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Acesso autenticado e dados pessoais protegidos conforme a LGPD.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52500" y="6162080"/>
            <a:ext cx="5143500" cy="1663005"/>
          </a:xfrm>
          <a:prstGeom prst="roundRect">
            <a:avLst>
              <a:gd name="adj" fmla="val 4582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66825" y="6476405"/>
            <a:ext cx="80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RNF04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2124373" y="6457355"/>
            <a:ext cx="190772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Acessibilidade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266825" y="6866930"/>
            <a:ext cx="465029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Três níveis de fonte e tema de alto contraste no cabeçalho.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6572250" y="6162080"/>
            <a:ext cx="5143500" cy="1663005"/>
          </a:xfrm>
          <a:prstGeom prst="roundRect">
            <a:avLst>
              <a:gd name="adj" fmla="val 4582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6886575" y="6476405"/>
            <a:ext cx="80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RNF05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744123" y="6457355"/>
            <a:ext cx="172567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Portabilidade</a:t>
            </a:r>
            <a:endParaRPr lang="en-US" sz="1950" dirty="0"/>
          </a:p>
        </p:txBody>
      </p:sp>
      <p:sp>
        <p:nvSpPr>
          <p:cNvPr id="26" name="Text 24"/>
          <p:cNvSpPr/>
          <p:nvPr/>
        </p:nvSpPr>
        <p:spPr>
          <a:xfrm>
            <a:off x="6886575" y="6866930"/>
            <a:ext cx="465029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Interface responsiva, executável em navegadores modernos.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12192000" y="6162080"/>
            <a:ext cx="5143500" cy="1663005"/>
          </a:xfrm>
          <a:prstGeom prst="roundRect">
            <a:avLst>
              <a:gd name="adj" fmla="val 4582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12506325" y="6476405"/>
            <a:ext cx="8003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RNF06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3363873" y="6457355"/>
            <a:ext cx="222483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Manutenibilidade</a:t>
            </a:r>
            <a:endParaRPr lang="en-US" sz="1950" dirty="0"/>
          </a:p>
        </p:txBody>
      </p:sp>
      <p:sp>
        <p:nvSpPr>
          <p:cNvPr id="30" name="Text 28"/>
          <p:cNvSpPr/>
          <p:nvPr/>
        </p:nvSpPr>
        <p:spPr>
          <a:xfrm>
            <a:off x="12506325" y="6866930"/>
            <a:ext cx="4650296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Código modular em HTML, CSS e JavaScript, fácil de evoluir.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6499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SISTEMA GERENCIADOR DE PRODUTOS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6305" y="70485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09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533525"/>
            <a:ext cx="180213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Modelagem · Casos de uso</a:t>
            </a:r>
            <a:endParaRPr lang="en-US" sz="4350" dirty="0"/>
          </a:p>
        </p:txBody>
      </p:sp>
      <p:sp>
        <p:nvSpPr>
          <p:cNvPr id="7" name="Shape 5"/>
          <p:cNvSpPr/>
          <p:nvPr/>
        </p:nvSpPr>
        <p:spPr>
          <a:xfrm>
            <a:off x="952500" y="2437358"/>
            <a:ext cx="7924800" cy="7144792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1343025" y="3351758"/>
            <a:ext cx="7143750" cy="19050"/>
          </a:xfrm>
          <a:prstGeom prst="rect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343025" y="2870746"/>
            <a:ext cx="7599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ATOR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179141" y="2827883"/>
            <a:ext cx="1092398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343025" y="3599408"/>
            <a:ext cx="7858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Consultar catálogo de produtos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343025" y="4066133"/>
            <a:ext cx="7858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Solicitar encomenda personalizada</a:t>
            </a:r>
            <a:endParaRPr lang="en-US" sz="2025" dirty="0"/>
          </a:p>
        </p:txBody>
      </p:sp>
      <p:sp>
        <p:nvSpPr>
          <p:cNvPr id="13" name="Text 11"/>
          <p:cNvSpPr/>
          <p:nvPr/>
        </p:nvSpPr>
        <p:spPr>
          <a:xfrm>
            <a:off x="1343025" y="4532858"/>
            <a:ext cx="7858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Montar carrinho e finalizar pedido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343025" y="4999583"/>
            <a:ext cx="7858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Acompanhar status do pedido</a:t>
            </a:r>
            <a:endParaRPr lang="en-US" sz="2025" dirty="0"/>
          </a:p>
        </p:txBody>
      </p:sp>
      <p:sp>
        <p:nvSpPr>
          <p:cNvPr id="15" name="Shape 13"/>
          <p:cNvSpPr/>
          <p:nvPr/>
        </p:nvSpPr>
        <p:spPr>
          <a:xfrm>
            <a:off x="9410700" y="2437358"/>
            <a:ext cx="7924800" cy="7144792"/>
          </a:xfrm>
          <a:prstGeom prst="roundRect">
            <a:avLst>
              <a:gd name="adj" fmla="val 1067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9801225" y="3351758"/>
            <a:ext cx="7143750" cy="19050"/>
          </a:xfrm>
          <a:prstGeom prst="rect">
            <a:avLst/>
          </a:prstGeom>
          <a:solidFill>
            <a:srgbClr val="5F34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801225" y="2870746"/>
            <a:ext cx="75991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5F34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ATOR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637341" y="2827883"/>
            <a:ext cx="3465106" cy="3905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Gerente / Funcionário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9801225" y="3599408"/>
            <a:ext cx="7858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Gerenciar produtos e disponibilidade</a:t>
            </a:r>
            <a:endParaRPr lang="en-US" sz="2025" dirty="0"/>
          </a:p>
        </p:txBody>
      </p:sp>
      <p:sp>
        <p:nvSpPr>
          <p:cNvPr id="20" name="Text 18"/>
          <p:cNvSpPr/>
          <p:nvPr/>
        </p:nvSpPr>
        <p:spPr>
          <a:xfrm>
            <a:off x="9801225" y="4066133"/>
            <a:ext cx="7858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Processar pedidos e alterar status</a:t>
            </a:r>
            <a:endParaRPr lang="en-US" sz="2025" dirty="0"/>
          </a:p>
        </p:txBody>
      </p:sp>
      <p:sp>
        <p:nvSpPr>
          <p:cNvPr id="21" name="Text 19"/>
          <p:cNvSpPr/>
          <p:nvPr/>
        </p:nvSpPr>
        <p:spPr>
          <a:xfrm>
            <a:off x="9801225" y="4532858"/>
            <a:ext cx="7858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Controlar estoque e insumos críticos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801225" y="4999583"/>
            <a:ext cx="78581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Gerar relatórios de vendas e insumos</a:t>
            </a:r>
            <a:endParaRPr lang="en-US" sz="20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6499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SISTEMA GERENCIADOR DE PRODUTOS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6305" y="70485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400175"/>
            <a:ext cx="18021300" cy="5581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390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Modelagem · Diagrama de classes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3688407" y="2120354"/>
            <a:ext cx="10911036" cy="7471321"/>
          </a:xfrm>
          <a:prstGeom prst="roundRect">
            <a:avLst>
              <a:gd name="adj" fmla="val 1020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8" name="Image 0"/>
          <p:cNvPicPr>
            <a:picLocks noChangeAspect="1"/>
          </p:cNvPicPr>
          <p:nvPr/>
        </p:nvPicPr>
        <p:blipFill>
          <a:blip r:embed="rId3"/>
          <a:srcRect l="39" r="39"/>
          <a:stretch/>
        </p:blipFill>
        <p:spPr>
          <a:xfrm>
            <a:off x="3688407" y="2120354"/>
            <a:ext cx="10911036" cy="74713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25543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A SOLUÇÃO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48956" y="704850"/>
            <a:ext cx="7627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3442543"/>
            <a:ext cx="771144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protótipo de alta fidelidade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952500" y="4186982"/>
            <a:ext cx="7220712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1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Protótipo navegável em </a:t>
            </a:r>
            <a:r>
              <a:rPr lang="en-US" sz="2100" b="1" dirty="0">
                <a:solidFill>
                  <a:srgbClr val="261D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HTML, CSS e JavaScript </a:t>
            </a:r>
            <a:r>
              <a:rPr lang="en-US" sz="21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, com dados simulados para avaliação de usabilidade.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52500" y="5358557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219200" y="5272832"/>
            <a:ext cx="694601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Dois perfis: </a:t>
            </a:r>
            <a:r>
              <a:rPr lang="en-US" sz="187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cliente (compra e encomenda) e gerente (administração).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52500" y="6196757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1219200" y="6111032"/>
            <a:ext cx="694601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Acessibilidade: </a:t>
            </a:r>
            <a:r>
              <a:rPr lang="en-US" sz="187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três tamanhos de fonte e modo escuro de alto contraste.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952500" y="7034957"/>
            <a:ext cx="114300" cy="114300"/>
          </a:xfrm>
          <a:prstGeom prst="roundRect">
            <a:avLst>
              <a:gd name="adj" fmla="val 25000"/>
            </a:avLst>
          </a:prstGeom>
          <a:solidFill>
            <a:srgbClr val="3F826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219200" y="6949232"/>
            <a:ext cx="6946011" cy="704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75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Fluxos completos: </a:t>
            </a:r>
            <a:r>
              <a:rPr lang="en-US" sz="187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cadastro, catálogo, encomenda, carrinho, pagamento, status e gestão.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8572500" y="2505075"/>
            <a:ext cx="8763000" cy="5648325"/>
          </a:xfrm>
          <a:prstGeom prst="roundRect">
            <a:avLst>
              <a:gd name="adj" fmla="val 1686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14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582025" y="2514600"/>
            <a:ext cx="8743950" cy="295275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582025" y="2800350"/>
            <a:ext cx="87439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8715375" y="2609850"/>
            <a:ext cx="95250" cy="95250"/>
          </a:xfrm>
          <a:prstGeom prst="ellipse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8877300" y="2609850"/>
            <a:ext cx="95250" cy="95250"/>
          </a:xfrm>
          <a:prstGeom prst="ellipse">
            <a:avLst/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9039225" y="2609850"/>
            <a:ext cx="95250" cy="95250"/>
          </a:xfrm>
          <a:prstGeom prst="ellipse">
            <a:avLst/>
          </a:prstGeom>
          <a:solidFill>
            <a:srgbClr val="3F826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8582025" y="2809875"/>
            <a:ext cx="8743950" cy="53340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8134350" y="8286750"/>
            <a:ext cx="9639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Tela inicial · perfil visitante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3F9A81C-FE78-E3A0-907E-99C9F857D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ECC9ED-9D1D-D51B-230D-35FCA4BA3BE9}"/>
              </a:ext>
            </a:extLst>
          </p:cNvPr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1151D86-591B-7ABE-AB21-05BC4B6EAFFC}"/>
              </a:ext>
            </a:extLst>
          </p:cNvPr>
          <p:cNvSpPr/>
          <p:nvPr/>
        </p:nvSpPr>
        <p:spPr>
          <a:xfrm>
            <a:off x="1181100" y="704850"/>
            <a:ext cx="25543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A SOLUÇÃO</a:t>
            </a:r>
            <a:endParaRPr lang="en-US" sz="18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D551B48D-8FA6-21C8-6331-F0C64E0CF5D8}"/>
              </a:ext>
            </a:extLst>
          </p:cNvPr>
          <p:cNvSpPr/>
          <p:nvPr/>
        </p:nvSpPr>
        <p:spPr>
          <a:xfrm>
            <a:off x="16648956" y="704850"/>
            <a:ext cx="7627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18</a:t>
            </a:r>
            <a:endParaRPr lang="en-US" sz="1800" dirty="0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8BBD405F-A543-1329-EA1C-5C328621299F}"/>
              </a:ext>
            </a:extLst>
          </p:cNvPr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6D9564E5-BBAB-9F89-06B3-424872B80878}"/>
              </a:ext>
            </a:extLst>
          </p:cNvPr>
          <p:cNvSpPr/>
          <p:nvPr/>
        </p:nvSpPr>
        <p:spPr>
          <a:xfrm>
            <a:off x="952500" y="1304925"/>
            <a:ext cx="6523553" cy="493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solução · </a:t>
            </a:r>
            <a:r>
              <a:rPr lang="en-US" sz="3450" b="1" kern="0" spc="-75" dirty="0" err="1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Cadastro</a:t>
            </a:r>
            <a:r>
              <a:rPr lang="en-US" sz="34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do </a:t>
            </a:r>
            <a:r>
              <a:rPr lang="en-US" sz="3450" b="1" kern="0" spc="-75" dirty="0" err="1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usuário</a:t>
            </a:r>
            <a:endParaRPr lang="en-US" sz="3450" dirty="0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2EAB6BB-97A4-6275-75B0-FC44937ABEB2}"/>
              </a:ext>
            </a:extLst>
          </p:cNvPr>
          <p:cNvSpPr/>
          <p:nvPr/>
        </p:nvSpPr>
        <p:spPr>
          <a:xfrm>
            <a:off x="952500" y="1836688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pt-BR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Visitantes podem visualizar o catálogo e adicionar itens ao carrinho, mas necessitam de identificação para finalizar seus pedidos.</a:t>
            </a:r>
            <a:endParaRPr lang="en-US" sz="18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AE35A223-29A6-6E50-A7DF-D4CF23C31402}"/>
              </a:ext>
            </a:extLst>
          </p:cNvPr>
          <p:cNvSpPr/>
          <p:nvPr/>
        </p:nvSpPr>
        <p:spPr>
          <a:xfrm>
            <a:off x="952500" y="2331988"/>
            <a:ext cx="7924800" cy="6465391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323850" dist="133350" dir="5400000" algn="bl" rotWithShape="0">
              <a:srgbClr val="442B1E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6F10802F-0A04-F362-E5C2-C5263462362F}"/>
              </a:ext>
            </a:extLst>
          </p:cNvPr>
          <p:cNvSpPr/>
          <p:nvPr/>
        </p:nvSpPr>
        <p:spPr>
          <a:xfrm>
            <a:off x="962025" y="2341513"/>
            <a:ext cx="7905750" cy="276225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66DE9249-4490-B335-4963-16D7A03EF0AE}"/>
              </a:ext>
            </a:extLst>
          </p:cNvPr>
          <p:cNvSpPr/>
          <p:nvPr/>
        </p:nvSpPr>
        <p:spPr>
          <a:xfrm>
            <a:off x="962025" y="2608213"/>
            <a:ext cx="79057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FE7FCA0C-E15C-95C7-18B6-5A7AC0132475}"/>
              </a:ext>
            </a:extLst>
          </p:cNvPr>
          <p:cNvSpPr/>
          <p:nvPr/>
        </p:nvSpPr>
        <p:spPr>
          <a:xfrm>
            <a:off x="1085850" y="2432000"/>
            <a:ext cx="85725" cy="85725"/>
          </a:xfrm>
          <a:prstGeom prst="ellipse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82377DE4-394D-001B-7C22-68A63F27204A}"/>
              </a:ext>
            </a:extLst>
          </p:cNvPr>
          <p:cNvSpPr/>
          <p:nvPr/>
        </p:nvSpPr>
        <p:spPr>
          <a:xfrm>
            <a:off x="1238250" y="2432000"/>
            <a:ext cx="85725" cy="85725"/>
          </a:xfrm>
          <a:prstGeom prst="ellipse">
            <a:avLst/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CFC706EC-76F0-8477-576E-5BDB8CA25C01}"/>
              </a:ext>
            </a:extLst>
          </p:cNvPr>
          <p:cNvSpPr/>
          <p:nvPr/>
        </p:nvSpPr>
        <p:spPr>
          <a:xfrm>
            <a:off x="1390650" y="2432000"/>
            <a:ext cx="85725" cy="85725"/>
          </a:xfrm>
          <a:prstGeom prst="ellipse">
            <a:avLst/>
          </a:prstGeom>
          <a:solidFill>
            <a:srgbClr val="3F826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0">
            <a:extLst>
              <a:ext uri="{FF2B5EF4-FFF2-40B4-BE49-F238E27FC236}">
                <a16:creationId xmlns:a16="http://schemas.microsoft.com/office/drawing/2014/main" id="{2924BF9F-475B-4921-7B2A-BE7D8AD45F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37392" y="2617738"/>
            <a:ext cx="7755015" cy="6170116"/>
          </a:xfrm>
          <a:prstGeom prst="rect">
            <a:avLst/>
          </a:prstGeom>
        </p:spPr>
      </p:pic>
      <p:sp>
        <p:nvSpPr>
          <p:cNvPr id="16" name="Text 13">
            <a:extLst>
              <a:ext uri="{FF2B5EF4-FFF2-40B4-BE49-F238E27FC236}">
                <a16:creationId xmlns:a16="http://schemas.microsoft.com/office/drawing/2014/main" id="{3CB5A839-E029-5913-8747-2BBDF9062394}"/>
              </a:ext>
            </a:extLst>
          </p:cNvPr>
          <p:cNvSpPr/>
          <p:nvPr/>
        </p:nvSpPr>
        <p:spPr>
          <a:xfrm>
            <a:off x="952500" y="8930729"/>
            <a:ext cx="8717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</a:t>
            </a:r>
            <a:r>
              <a:rPr lang="en-US" sz="2100" b="1" dirty="0" err="1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Entrar</a:t>
            </a:r>
            <a:endParaRPr lang="en-US" sz="2100" dirty="0"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0637F9E-BC47-4872-A895-11CDA006C95D}"/>
              </a:ext>
            </a:extLst>
          </p:cNvPr>
          <p:cNvSpPr/>
          <p:nvPr/>
        </p:nvSpPr>
        <p:spPr>
          <a:xfrm>
            <a:off x="952500" y="9273629"/>
            <a:ext cx="871728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 err="1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Usuários</a:t>
            </a: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1800" dirty="0" err="1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já</a:t>
            </a: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1800" dirty="0" err="1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existentes</a:t>
            </a: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1800" dirty="0" err="1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podem</a:t>
            </a: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1800" dirty="0" err="1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acessar</a:t>
            </a: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1800" dirty="0" err="1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suas</a:t>
            </a: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1800" dirty="0" err="1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contas</a:t>
            </a: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1800" dirty="0" err="1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através</a:t>
            </a: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das </a:t>
            </a:r>
            <a:r>
              <a:rPr lang="en-US" sz="1800" dirty="0" err="1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credenciais</a:t>
            </a: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1800" dirty="0" err="1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salvas</a:t>
            </a: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</a:t>
            </a:r>
            <a:endParaRPr lang="en-US" sz="1800" dirty="0"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0A7AB882-F94C-8530-D9AA-2906092EFAB1}"/>
              </a:ext>
            </a:extLst>
          </p:cNvPr>
          <p:cNvSpPr/>
          <p:nvPr/>
        </p:nvSpPr>
        <p:spPr>
          <a:xfrm>
            <a:off x="9410700" y="2331988"/>
            <a:ext cx="7924800" cy="6465391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323850" dist="133350" dir="5400000" algn="bl" rotWithShape="0">
              <a:srgbClr val="442B1E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CAA3072F-4F72-073A-6275-32D2960721DC}"/>
              </a:ext>
            </a:extLst>
          </p:cNvPr>
          <p:cNvSpPr/>
          <p:nvPr/>
        </p:nvSpPr>
        <p:spPr>
          <a:xfrm>
            <a:off x="9420225" y="2341513"/>
            <a:ext cx="7905750" cy="276225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5762439E-6E1A-60ED-7680-1BB238E14175}"/>
              </a:ext>
            </a:extLst>
          </p:cNvPr>
          <p:cNvSpPr/>
          <p:nvPr/>
        </p:nvSpPr>
        <p:spPr>
          <a:xfrm>
            <a:off x="9420225" y="2608213"/>
            <a:ext cx="79057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724B7B55-B1E7-A037-C16B-D7B7B74B3ECE}"/>
              </a:ext>
            </a:extLst>
          </p:cNvPr>
          <p:cNvSpPr/>
          <p:nvPr/>
        </p:nvSpPr>
        <p:spPr>
          <a:xfrm>
            <a:off x="9544050" y="2432000"/>
            <a:ext cx="85725" cy="85725"/>
          </a:xfrm>
          <a:prstGeom prst="ellipse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6114B96-93A2-45F9-EBB4-9365953FA708}"/>
              </a:ext>
            </a:extLst>
          </p:cNvPr>
          <p:cNvSpPr/>
          <p:nvPr/>
        </p:nvSpPr>
        <p:spPr>
          <a:xfrm>
            <a:off x="9696450" y="2432000"/>
            <a:ext cx="85725" cy="85725"/>
          </a:xfrm>
          <a:prstGeom prst="ellipse">
            <a:avLst/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AF3BBEFC-9220-8B5F-7A9C-22D461E8A83F}"/>
              </a:ext>
            </a:extLst>
          </p:cNvPr>
          <p:cNvSpPr/>
          <p:nvPr/>
        </p:nvSpPr>
        <p:spPr>
          <a:xfrm>
            <a:off x="9848850" y="2432000"/>
            <a:ext cx="85725" cy="85725"/>
          </a:xfrm>
          <a:prstGeom prst="ellipse">
            <a:avLst/>
          </a:prstGeom>
          <a:solidFill>
            <a:srgbClr val="3F826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1">
            <a:extLst>
              <a:ext uri="{FF2B5EF4-FFF2-40B4-BE49-F238E27FC236}">
                <a16:creationId xmlns:a16="http://schemas.microsoft.com/office/drawing/2014/main" id="{7C1A84D1-5185-1BC4-7A0D-E174ACD7223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731938" y="2617737"/>
            <a:ext cx="7282324" cy="6179641"/>
          </a:xfrm>
          <a:prstGeom prst="rect">
            <a:avLst/>
          </a:prstGeom>
        </p:spPr>
      </p:pic>
      <p:sp>
        <p:nvSpPr>
          <p:cNvPr id="25" name="Text 21">
            <a:extLst>
              <a:ext uri="{FF2B5EF4-FFF2-40B4-BE49-F238E27FC236}">
                <a16:creationId xmlns:a16="http://schemas.microsoft.com/office/drawing/2014/main" id="{ABEC3761-C987-431E-E396-C3D18FC8CA9B}"/>
              </a:ext>
            </a:extLst>
          </p:cNvPr>
          <p:cNvSpPr/>
          <p:nvPr/>
        </p:nvSpPr>
        <p:spPr>
          <a:xfrm>
            <a:off x="9420225" y="8901063"/>
            <a:ext cx="8717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</a:t>
            </a:r>
            <a:r>
              <a:rPr lang="en-US" sz="2100" b="1" dirty="0" err="1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Cadastro</a:t>
            </a:r>
            <a:endParaRPr lang="en-US" sz="2100" dirty="0"/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6AFA0B34-2D84-94D3-AF95-1DA186FD74B6}"/>
              </a:ext>
            </a:extLst>
          </p:cNvPr>
          <p:cNvSpPr/>
          <p:nvPr/>
        </p:nvSpPr>
        <p:spPr>
          <a:xfrm>
            <a:off x="9420225" y="9209582"/>
            <a:ext cx="8162544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pt-BR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Novos usuários podem se cadastrar informando os dados solicitados.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3402804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25543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A SOLUÇÃO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48956" y="704850"/>
            <a:ext cx="7627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304925"/>
            <a:ext cx="6523553" cy="493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solução · jornada do cliente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7054453" y="1447800"/>
            <a:ext cx="7783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de 3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1836688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 catálogo à </a:t>
            </a:r>
            <a:r>
              <a:rPr lang="en-US" sz="1800" dirty="0" err="1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confirmação</a:t>
            </a:r>
            <a:r>
              <a:rPr lang="en-US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: </a:t>
            </a:r>
            <a:r>
              <a:rPr lang="en-US" sz="1800" dirty="0" err="1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fluxo</a:t>
            </a: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principal de compra e retirada.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2331988"/>
            <a:ext cx="7924800" cy="6465391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323850" dist="133350" dir="5400000" algn="bl" rotWithShape="0">
              <a:srgbClr val="442B1E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962025" y="2341513"/>
            <a:ext cx="7905750" cy="276225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962025" y="2608213"/>
            <a:ext cx="79057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085850" y="2432000"/>
            <a:ext cx="85725" cy="85725"/>
          </a:xfrm>
          <a:prstGeom prst="ellipse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238250" y="2432000"/>
            <a:ext cx="85725" cy="85725"/>
          </a:xfrm>
          <a:prstGeom prst="ellipse">
            <a:avLst/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390650" y="2432000"/>
            <a:ext cx="85725" cy="85725"/>
          </a:xfrm>
          <a:prstGeom prst="ellipse">
            <a:avLst/>
          </a:prstGeom>
          <a:solidFill>
            <a:srgbClr val="3F826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2025" y="2617738"/>
            <a:ext cx="7905750" cy="617011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52500" y="8930729"/>
            <a:ext cx="8717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· </a:t>
            </a: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Catálogo de produtos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952500" y="9273629"/>
            <a:ext cx="871728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Produtos com foto, preço e disponibilidade, com filtros por categoria e busca.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410700" y="2331988"/>
            <a:ext cx="7924800" cy="6156871"/>
          </a:xfrm>
          <a:prstGeom prst="roundRect">
            <a:avLst>
              <a:gd name="adj" fmla="val 1238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323850" dist="133350" dir="5400000" algn="bl" rotWithShape="0">
              <a:srgbClr val="442B1E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9420225" y="2341513"/>
            <a:ext cx="7905750" cy="276225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9420225" y="2608213"/>
            <a:ext cx="79057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9544050" y="2432000"/>
            <a:ext cx="85725" cy="85725"/>
          </a:xfrm>
          <a:prstGeom prst="ellipse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9696450" y="2432000"/>
            <a:ext cx="85725" cy="85725"/>
          </a:xfrm>
          <a:prstGeom prst="ellipse">
            <a:avLst/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9848850" y="2432000"/>
            <a:ext cx="85725" cy="85725"/>
          </a:xfrm>
          <a:prstGeom prst="ellipse">
            <a:avLst/>
          </a:prstGeom>
          <a:solidFill>
            <a:srgbClr val="3F826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20225" y="2617738"/>
            <a:ext cx="7905750" cy="586159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410700" y="8622209"/>
            <a:ext cx="8717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· </a:t>
            </a: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Encomenda personalizada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9410700" y="8965109"/>
            <a:ext cx="8162544" cy="6551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Configura o bolo: formato, tamanho, recheio, cobertura, mensagem e referência.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25543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A SOLUÇÃO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48956" y="704850"/>
            <a:ext cx="7627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304925"/>
            <a:ext cx="6523553" cy="493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solução · jornada do cliente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7054453" y="1447800"/>
            <a:ext cx="7783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de 3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1836688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 catálogo à </a:t>
            </a:r>
            <a:r>
              <a:rPr lang="en-US" sz="1800" dirty="0" err="1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confirmação</a:t>
            </a:r>
            <a:r>
              <a:rPr lang="en-US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: </a:t>
            </a:r>
            <a:r>
              <a:rPr lang="en-US" sz="1800" dirty="0" err="1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fluxo</a:t>
            </a: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principal de compra e retirada.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2331988"/>
            <a:ext cx="7924800" cy="6465391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323850" dist="133350" dir="5400000" algn="bl" rotWithShape="0">
              <a:srgbClr val="442B1E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962025" y="2341513"/>
            <a:ext cx="7905750" cy="276225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962025" y="2608213"/>
            <a:ext cx="79057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085850" y="2432000"/>
            <a:ext cx="85725" cy="85725"/>
          </a:xfrm>
          <a:prstGeom prst="ellipse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238250" y="2432000"/>
            <a:ext cx="85725" cy="85725"/>
          </a:xfrm>
          <a:prstGeom prst="ellipse">
            <a:avLst/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390650" y="2432000"/>
            <a:ext cx="85725" cy="85725"/>
          </a:xfrm>
          <a:prstGeom prst="ellipse">
            <a:avLst/>
          </a:prstGeom>
          <a:solidFill>
            <a:srgbClr val="3F826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2025" y="2617738"/>
            <a:ext cx="7905750" cy="617011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52500" y="8930729"/>
            <a:ext cx="8717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· </a:t>
            </a: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Carrinho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952500" y="9273629"/>
            <a:ext cx="871728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Revisão de itens, ajuste de quantidade, remoção e resumo do total.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410700" y="2331988"/>
            <a:ext cx="7924800" cy="6465391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323850" dist="133350" dir="5400000" algn="bl" rotWithShape="0">
              <a:srgbClr val="442B1E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9420225" y="2341513"/>
            <a:ext cx="7905750" cy="276225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9420225" y="2608213"/>
            <a:ext cx="79057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9544050" y="2432000"/>
            <a:ext cx="85725" cy="85725"/>
          </a:xfrm>
          <a:prstGeom prst="ellipse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9696450" y="2432000"/>
            <a:ext cx="85725" cy="85725"/>
          </a:xfrm>
          <a:prstGeom prst="ellipse">
            <a:avLst/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9848850" y="2432000"/>
            <a:ext cx="85725" cy="85725"/>
          </a:xfrm>
          <a:prstGeom prst="ellipse">
            <a:avLst/>
          </a:prstGeom>
          <a:solidFill>
            <a:srgbClr val="3F826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20225" y="2617738"/>
            <a:ext cx="7905750" cy="617011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410700" y="8930729"/>
            <a:ext cx="8717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 · </a:t>
            </a: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Entrega ou retirada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9410700" y="9273629"/>
            <a:ext cx="871728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Escolha entre retirada e entrega, com data, horário e endereço do cadastro.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25543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A SOLUÇÃO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48956" y="704850"/>
            <a:ext cx="7627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304925"/>
            <a:ext cx="6523553" cy="493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solução · jornada do cliente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7054453" y="1447800"/>
            <a:ext cx="7783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de 3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1836688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Do catálogo à </a:t>
            </a:r>
            <a:r>
              <a:rPr lang="en-US" sz="1800" dirty="0" err="1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confirmação</a:t>
            </a:r>
            <a:r>
              <a:rPr lang="en-US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: </a:t>
            </a:r>
            <a:r>
              <a:rPr lang="en-US" sz="1800" dirty="0" err="1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fluxo</a:t>
            </a: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principal de compra e retirada.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2331988"/>
            <a:ext cx="7924800" cy="6465391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323850" dist="133350" dir="5400000" algn="bl" rotWithShape="0">
              <a:srgbClr val="442B1E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962025" y="2341513"/>
            <a:ext cx="7905750" cy="276225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962025" y="2608213"/>
            <a:ext cx="79057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085850" y="2432000"/>
            <a:ext cx="85725" cy="85725"/>
          </a:xfrm>
          <a:prstGeom prst="ellipse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238250" y="2432000"/>
            <a:ext cx="85725" cy="85725"/>
          </a:xfrm>
          <a:prstGeom prst="ellipse">
            <a:avLst/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390650" y="2432000"/>
            <a:ext cx="85725" cy="85725"/>
          </a:xfrm>
          <a:prstGeom prst="ellipse">
            <a:avLst/>
          </a:prstGeom>
          <a:solidFill>
            <a:srgbClr val="3F826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2025" y="2617738"/>
            <a:ext cx="7905750" cy="617011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52500" y="8930729"/>
            <a:ext cx="8717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 · </a:t>
            </a: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Pagamento simulado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952500" y="9273629"/>
            <a:ext cx="871728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Pix, cartão ou dinheiro na retirada — ambiente visual de demonstração.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410700" y="2331988"/>
            <a:ext cx="7924800" cy="6465391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323850" dist="133350" dir="5400000" algn="bl" rotWithShape="0">
              <a:srgbClr val="442B1E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9420225" y="2341513"/>
            <a:ext cx="7905750" cy="276225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9420225" y="2608213"/>
            <a:ext cx="79057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9544050" y="2432000"/>
            <a:ext cx="85725" cy="85725"/>
          </a:xfrm>
          <a:prstGeom prst="ellipse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9696450" y="2432000"/>
            <a:ext cx="85725" cy="85725"/>
          </a:xfrm>
          <a:prstGeom prst="ellipse">
            <a:avLst/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9848850" y="2432000"/>
            <a:ext cx="85725" cy="85725"/>
          </a:xfrm>
          <a:prstGeom prst="ellipse">
            <a:avLst/>
          </a:prstGeom>
          <a:solidFill>
            <a:srgbClr val="3F826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20225" y="2617738"/>
            <a:ext cx="7905750" cy="617011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410700" y="8930729"/>
            <a:ext cx="8717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 · </a:t>
            </a: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Confirmação do pedido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9410700" y="9273629"/>
            <a:ext cx="871728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Número do pedido, resumo e próximos passos — fecha o ciclo da compra.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25543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A SOLUÇÃO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48956" y="704850"/>
            <a:ext cx="7627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304925"/>
            <a:ext cx="6250484" cy="493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solução · visão do gerente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6806208" y="1447800"/>
            <a:ext cx="7783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 de 3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1836688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Administração de pedidos, catálogo, estoque e relatórios.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2331988"/>
            <a:ext cx="7924800" cy="6465391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323850" dist="133350" dir="5400000" algn="bl" rotWithShape="0">
              <a:srgbClr val="442B1E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962025" y="2341513"/>
            <a:ext cx="7905750" cy="276225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962025" y="2608213"/>
            <a:ext cx="79057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085850" y="2432000"/>
            <a:ext cx="85725" cy="85725"/>
          </a:xfrm>
          <a:prstGeom prst="ellipse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238250" y="2432000"/>
            <a:ext cx="85725" cy="85725"/>
          </a:xfrm>
          <a:prstGeom prst="ellipse">
            <a:avLst/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390650" y="2432000"/>
            <a:ext cx="85725" cy="85725"/>
          </a:xfrm>
          <a:prstGeom prst="ellipse">
            <a:avLst/>
          </a:prstGeom>
          <a:solidFill>
            <a:srgbClr val="3F826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2025" y="2617738"/>
            <a:ext cx="7905750" cy="617011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52500" y="8930729"/>
            <a:ext cx="8717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</a:t>
            </a: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Painel do gerente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952500" y="9273629"/>
            <a:ext cx="871728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Indicadores de pedidos ativos, alertas de estoque e receita simulada.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410700" y="2331988"/>
            <a:ext cx="7924800" cy="6465391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323850" dist="133350" dir="5400000" algn="bl" rotWithShape="0">
              <a:srgbClr val="442B1E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9420225" y="2341513"/>
            <a:ext cx="7905750" cy="276225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9420225" y="2608213"/>
            <a:ext cx="79057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9544050" y="2432000"/>
            <a:ext cx="85725" cy="85725"/>
          </a:xfrm>
          <a:prstGeom prst="ellipse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9696450" y="2432000"/>
            <a:ext cx="85725" cy="85725"/>
          </a:xfrm>
          <a:prstGeom prst="ellipse">
            <a:avLst/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9848850" y="2432000"/>
            <a:ext cx="85725" cy="85725"/>
          </a:xfrm>
          <a:prstGeom prst="ellipse">
            <a:avLst/>
          </a:prstGeom>
          <a:solidFill>
            <a:srgbClr val="3F826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20225" y="2617738"/>
            <a:ext cx="7905750" cy="617011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410700" y="8930729"/>
            <a:ext cx="8717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</a:t>
            </a: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Gestão de pedidos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9410700" y="9273629"/>
            <a:ext cx="871728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Lista de pedidos com filtro, busca e alteração de status.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25543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A SOLUÇÃO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48956" y="704850"/>
            <a:ext cx="7627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304925"/>
            <a:ext cx="6250484" cy="493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solução · visão do gerente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6806208" y="1447800"/>
            <a:ext cx="7783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 de 3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1836688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Administração de pedidos, catálogo, estoque e relatórios.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2331988"/>
            <a:ext cx="7924800" cy="6465391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323850" dist="133350" dir="5400000" algn="bl" rotWithShape="0">
              <a:srgbClr val="442B1E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962025" y="2341513"/>
            <a:ext cx="7905750" cy="276225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962025" y="2608213"/>
            <a:ext cx="79057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085850" y="2432000"/>
            <a:ext cx="85725" cy="85725"/>
          </a:xfrm>
          <a:prstGeom prst="ellipse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238250" y="2432000"/>
            <a:ext cx="85725" cy="85725"/>
          </a:xfrm>
          <a:prstGeom prst="ellipse">
            <a:avLst/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390650" y="2432000"/>
            <a:ext cx="85725" cy="85725"/>
          </a:xfrm>
          <a:prstGeom prst="ellipse">
            <a:avLst/>
          </a:prstGeom>
          <a:solidFill>
            <a:srgbClr val="3F826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2025" y="2617738"/>
            <a:ext cx="7905750" cy="617011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52500" y="8930729"/>
            <a:ext cx="8717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</a:t>
            </a: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Gestão de produtos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952500" y="9273629"/>
            <a:ext cx="871728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Cadastro, preço, estoque e alternância de disponibilidade.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410700" y="2331988"/>
            <a:ext cx="7924800" cy="6465391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323850" dist="133350" dir="5400000" algn="bl" rotWithShape="0">
              <a:srgbClr val="442B1E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9420225" y="2341513"/>
            <a:ext cx="7905750" cy="276225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9420225" y="2608213"/>
            <a:ext cx="79057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9544050" y="2432000"/>
            <a:ext cx="85725" cy="85725"/>
          </a:xfrm>
          <a:prstGeom prst="ellipse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9696450" y="2432000"/>
            <a:ext cx="85725" cy="85725"/>
          </a:xfrm>
          <a:prstGeom prst="ellipse">
            <a:avLst/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9848850" y="2432000"/>
            <a:ext cx="85725" cy="85725"/>
          </a:xfrm>
          <a:prstGeom prst="ellipse">
            <a:avLst/>
          </a:prstGeom>
          <a:solidFill>
            <a:srgbClr val="3F826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20225" y="2617738"/>
            <a:ext cx="7905750" cy="617011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410700" y="8930729"/>
            <a:ext cx="8717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</a:t>
            </a: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Estoque de insumos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9410700" y="9273629"/>
            <a:ext cx="871728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Saldo, nível crítico e fornecedor, com destaque para itens críticos.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25543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A SOLUÇÃO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48956" y="704850"/>
            <a:ext cx="7627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304925"/>
            <a:ext cx="6250484" cy="493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4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solução · visão do gerente</a:t>
            </a:r>
            <a:endParaRPr lang="en-US" sz="3450" dirty="0"/>
          </a:p>
        </p:txBody>
      </p:sp>
      <p:sp>
        <p:nvSpPr>
          <p:cNvPr id="7" name="Text 5"/>
          <p:cNvSpPr/>
          <p:nvPr/>
        </p:nvSpPr>
        <p:spPr>
          <a:xfrm>
            <a:off x="6806208" y="1447800"/>
            <a:ext cx="77837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 de 3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52500" y="1836688"/>
            <a:ext cx="180213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Administração de pedidos, catálogo, estoque e relatórios.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2331988"/>
            <a:ext cx="7924800" cy="6465391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323850" dist="133350" dir="5400000" algn="bl" rotWithShape="0">
              <a:srgbClr val="442B1E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962025" y="2341513"/>
            <a:ext cx="7905750" cy="276225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962025" y="2608213"/>
            <a:ext cx="79057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1085850" y="2432000"/>
            <a:ext cx="85725" cy="85725"/>
          </a:xfrm>
          <a:prstGeom prst="ellipse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1238250" y="2432000"/>
            <a:ext cx="85725" cy="85725"/>
          </a:xfrm>
          <a:prstGeom prst="ellipse">
            <a:avLst/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1390650" y="2432000"/>
            <a:ext cx="85725" cy="85725"/>
          </a:xfrm>
          <a:prstGeom prst="ellipse">
            <a:avLst/>
          </a:prstGeom>
          <a:solidFill>
            <a:srgbClr val="3F826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62025" y="2617738"/>
            <a:ext cx="7905750" cy="6170116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952500" y="8930729"/>
            <a:ext cx="8717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</a:t>
            </a: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Geração de relatórios</a:t>
            </a:r>
            <a:endParaRPr lang="en-US" sz="2100" dirty="0"/>
          </a:p>
        </p:txBody>
      </p:sp>
      <p:sp>
        <p:nvSpPr>
          <p:cNvPr id="17" name="Text 14"/>
          <p:cNvSpPr/>
          <p:nvPr/>
        </p:nvSpPr>
        <p:spPr>
          <a:xfrm>
            <a:off x="952500" y="9273629"/>
            <a:ext cx="871728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Seleção de tipo e período de estoque, produtos e vendas.</a:t>
            </a:r>
            <a:endParaRPr lang="en-US" sz="1800" dirty="0"/>
          </a:p>
        </p:txBody>
      </p:sp>
      <p:sp>
        <p:nvSpPr>
          <p:cNvPr id="18" name="Shape 15"/>
          <p:cNvSpPr/>
          <p:nvPr/>
        </p:nvSpPr>
        <p:spPr>
          <a:xfrm>
            <a:off x="9410700" y="2331988"/>
            <a:ext cx="7924800" cy="6465391"/>
          </a:xfrm>
          <a:prstGeom prst="roundRect">
            <a:avLst>
              <a:gd name="adj" fmla="val 1179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323850" dist="133350" dir="5400000" algn="bl" rotWithShape="0">
              <a:srgbClr val="442B1E">
                <a:alpha val="12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9" name="Shape 16"/>
          <p:cNvSpPr/>
          <p:nvPr/>
        </p:nvSpPr>
        <p:spPr>
          <a:xfrm>
            <a:off x="9420225" y="2341513"/>
            <a:ext cx="7905750" cy="276225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Shape 17"/>
          <p:cNvSpPr/>
          <p:nvPr/>
        </p:nvSpPr>
        <p:spPr>
          <a:xfrm>
            <a:off x="9420225" y="2608213"/>
            <a:ext cx="79057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Shape 18"/>
          <p:cNvSpPr/>
          <p:nvPr/>
        </p:nvSpPr>
        <p:spPr>
          <a:xfrm>
            <a:off x="9544050" y="2432000"/>
            <a:ext cx="85725" cy="85725"/>
          </a:xfrm>
          <a:prstGeom prst="ellipse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Shape 19"/>
          <p:cNvSpPr/>
          <p:nvPr/>
        </p:nvSpPr>
        <p:spPr>
          <a:xfrm>
            <a:off x="9696450" y="2432000"/>
            <a:ext cx="85725" cy="85725"/>
          </a:xfrm>
          <a:prstGeom prst="ellipse">
            <a:avLst/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Shape 20"/>
          <p:cNvSpPr/>
          <p:nvPr/>
        </p:nvSpPr>
        <p:spPr>
          <a:xfrm>
            <a:off x="9848850" y="2432000"/>
            <a:ext cx="85725" cy="85725"/>
          </a:xfrm>
          <a:prstGeom prst="ellipse">
            <a:avLst/>
          </a:prstGeom>
          <a:solidFill>
            <a:srgbClr val="3F826D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9420225" y="2617738"/>
            <a:ext cx="7905750" cy="6170116"/>
          </a:xfrm>
          <a:prstGeom prst="rect">
            <a:avLst/>
          </a:prstGeom>
        </p:spPr>
      </p:pic>
      <p:sp>
        <p:nvSpPr>
          <p:cNvPr id="25" name="Text 21"/>
          <p:cNvSpPr/>
          <p:nvPr/>
        </p:nvSpPr>
        <p:spPr>
          <a:xfrm>
            <a:off x="9410700" y="8930729"/>
            <a:ext cx="871728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</a:t>
            </a:r>
            <a:r>
              <a:rPr lang="en-US" sz="21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Relatório gerado</a:t>
            </a:r>
            <a:endParaRPr lang="en-US" sz="2100" dirty="0"/>
          </a:p>
        </p:txBody>
      </p:sp>
      <p:sp>
        <p:nvSpPr>
          <p:cNvPr id="26" name="Text 22"/>
          <p:cNvSpPr/>
          <p:nvPr/>
        </p:nvSpPr>
        <p:spPr>
          <a:xfrm>
            <a:off x="9410700" y="9273629"/>
            <a:ext cx="8717280" cy="3466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35000"/>
              </a:lnSpc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Produtos, estoque de insumos e consumo estimado no período.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25543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A SOLUÇÃO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48956" y="704850"/>
            <a:ext cx="7627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11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457325"/>
            <a:ext cx="18021300" cy="5531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90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Como a solução atende ao proposto</a:t>
            </a:r>
            <a:endParaRPr lang="en-US" sz="3900" dirty="0"/>
          </a:p>
        </p:txBody>
      </p:sp>
      <p:sp>
        <p:nvSpPr>
          <p:cNvPr id="7" name="Shape 5"/>
          <p:cNvSpPr/>
          <p:nvPr/>
        </p:nvSpPr>
        <p:spPr>
          <a:xfrm>
            <a:off x="952500" y="3929360"/>
            <a:ext cx="16383000" cy="3962400"/>
          </a:xfrm>
          <a:prstGeom prst="roundRect">
            <a:avLst>
              <a:gd name="adj" fmla="val 1923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62025" y="3938885"/>
            <a:ext cx="16363950" cy="609600"/>
          </a:xfrm>
          <a:prstGeom prst="rect">
            <a:avLst/>
          </a:prstGeom>
          <a:solidFill>
            <a:srgbClr val="5F34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228725" y="4110335"/>
            <a:ext cx="610633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QUE FOI PROPOSTO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675066" y="4110335"/>
            <a:ext cx="712787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COMO O PROTÓTIPO ENTREGA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113198" y="4110335"/>
            <a:ext cx="20222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REQ.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962025" y="4548485"/>
            <a:ext cx="163639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1228725" y="4767560"/>
            <a:ext cx="610633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Centralizar catálogo e encomendas</a:t>
            </a:r>
            <a:endParaRPr lang="en-US" sz="1875" dirty="0"/>
          </a:p>
        </p:txBody>
      </p:sp>
      <p:sp>
        <p:nvSpPr>
          <p:cNvPr id="14" name="Shape 12"/>
          <p:cNvSpPr/>
          <p:nvPr/>
        </p:nvSpPr>
        <p:spPr>
          <a:xfrm>
            <a:off x="7408366" y="4558010"/>
            <a:ext cx="9525" cy="952500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7684591" y="4767560"/>
            <a:ext cx="711835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Catálogo com filtros e busca + configurador de encomenda personalizada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4846498" y="4558010"/>
            <a:ext cx="9525" cy="952500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5122723" y="4767560"/>
            <a:ext cx="20127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RF01·03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962025" y="5510510"/>
            <a:ext cx="16363950" cy="704850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962025" y="5510510"/>
            <a:ext cx="163639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1228725" y="5729585"/>
            <a:ext cx="61063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Controlar estoque de insumos</a:t>
            </a:r>
            <a:endParaRPr lang="en-US" sz="1875" dirty="0"/>
          </a:p>
        </p:txBody>
      </p:sp>
      <p:sp>
        <p:nvSpPr>
          <p:cNvPr id="21" name="Shape 19"/>
          <p:cNvSpPr/>
          <p:nvPr/>
        </p:nvSpPr>
        <p:spPr>
          <a:xfrm>
            <a:off x="7408366" y="5520035"/>
            <a:ext cx="9525" cy="6953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7684591" y="5729585"/>
            <a:ext cx="71183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Tela de estoque com nível crítico e alertas no painel do gerente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4846498" y="5520035"/>
            <a:ext cx="9525" cy="6953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5122723" y="5729585"/>
            <a:ext cx="20127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RF05·07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62025" y="6215360"/>
            <a:ext cx="163639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228725" y="6434435"/>
            <a:ext cx="610633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Apoiar a gestão com dados</a:t>
            </a:r>
            <a:endParaRPr lang="en-US" sz="1875" dirty="0"/>
          </a:p>
        </p:txBody>
      </p:sp>
      <p:sp>
        <p:nvSpPr>
          <p:cNvPr id="27" name="Shape 25"/>
          <p:cNvSpPr/>
          <p:nvPr/>
        </p:nvSpPr>
        <p:spPr>
          <a:xfrm>
            <a:off x="7408366" y="6224885"/>
            <a:ext cx="9525" cy="952500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7684591" y="6434435"/>
            <a:ext cx="711835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Painel, gestão de pedidos/produtos e relatório com consumo de insumos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14846498" y="6224885"/>
            <a:ext cx="9525" cy="952500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15122723" y="6434435"/>
            <a:ext cx="2012752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RF06·08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62025" y="7177385"/>
            <a:ext cx="16363950" cy="704850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Shape 30"/>
          <p:cNvSpPr/>
          <p:nvPr/>
        </p:nvSpPr>
        <p:spPr>
          <a:xfrm>
            <a:off x="962025" y="7177385"/>
            <a:ext cx="163639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228725" y="7396460"/>
            <a:ext cx="610633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Interface usável e acessível</a:t>
            </a:r>
            <a:endParaRPr lang="en-US" sz="1875" dirty="0"/>
          </a:p>
        </p:txBody>
      </p:sp>
      <p:sp>
        <p:nvSpPr>
          <p:cNvPr id="34" name="Shape 32"/>
          <p:cNvSpPr/>
          <p:nvPr/>
        </p:nvSpPr>
        <p:spPr>
          <a:xfrm>
            <a:off x="7408366" y="7186910"/>
            <a:ext cx="9525" cy="6953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7684591" y="7396460"/>
            <a:ext cx="711835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Três tamanhos de fonte, modo escuro e validação de formulários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4846498" y="7186910"/>
            <a:ext cx="9525" cy="6953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15122723" y="7396460"/>
            <a:ext cx="2012752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RNF01·03·04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6499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SISTEMA GERENCIADOR DE PRODUTOS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6305" y="70485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476375"/>
            <a:ext cx="1802130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Guia de estilo do protótipo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952500" y="2297013"/>
            <a:ext cx="93030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PALETA — TEMA PADRÃO (WARM)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952500" y="2716113"/>
            <a:ext cx="8457307" cy="933450"/>
          </a:xfrm>
          <a:prstGeom prst="roundRect">
            <a:avLst>
              <a:gd name="adj" fmla="val 8163"/>
            </a:avLst>
          </a:prstGeom>
          <a:ln w="9525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962025" y="2725638"/>
            <a:ext cx="1205359" cy="914400"/>
          </a:xfrm>
          <a:prstGeom prst="rect">
            <a:avLst/>
          </a:prstGeom>
          <a:solidFill>
            <a:srgbClr val="5F34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2167384" y="2725638"/>
            <a:ext cx="1205508" cy="914400"/>
          </a:xfrm>
          <a:prstGeom prst="rect">
            <a:avLst/>
          </a:prstGeom>
          <a:solidFill>
            <a:srgbClr val="3F221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3372892" y="2725638"/>
            <a:ext cx="1205359" cy="914400"/>
          </a:xfrm>
          <a:prstGeom prst="rect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4578251" y="2725638"/>
            <a:ext cx="1205508" cy="914400"/>
          </a:xfrm>
          <a:prstGeom prst="rect">
            <a:avLst/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5783759" y="2725638"/>
            <a:ext cx="1205508" cy="914400"/>
          </a:xfrm>
          <a:prstGeom prst="rect">
            <a:avLst/>
          </a:prstGeom>
          <a:solidFill>
            <a:srgbClr val="3F826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6989266" y="2725638"/>
            <a:ext cx="1205508" cy="914400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8194774" y="2725638"/>
            <a:ext cx="1205508" cy="914400"/>
          </a:xfrm>
          <a:prstGeom prst="rect">
            <a:avLst/>
          </a:prstGeom>
          <a:solidFill>
            <a:srgbClr val="FBFAF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952500" y="3744813"/>
            <a:ext cx="8383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primary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554486" y="3744813"/>
            <a:ext cx="5208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dark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39021" y="3744813"/>
            <a:ext cx="7497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accent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352455" y="3744813"/>
            <a:ext cx="6862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wheat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6802338" y="3744813"/>
            <a:ext cx="50809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mint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8074075" y="3744813"/>
            <a:ext cx="3177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9155460" y="3744813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52500" y="4278213"/>
            <a:ext cx="93030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BADGES DE STATUS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952500" y="4697313"/>
            <a:ext cx="1575048" cy="457200"/>
          </a:xfrm>
          <a:prstGeom prst="roundRect">
            <a:avLst>
              <a:gd name="adj" fmla="val 50000"/>
            </a:avLst>
          </a:prstGeom>
          <a:solidFill>
            <a:srgbClr val="D8EFE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1162050" y="4792563"/>
            <a:ext cx="12321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225F4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Disponível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2679948" y="4697313"/>
            <a:ext cx="1689497" cy="457200"/>
          </a:xfrm>
          <a:prstGeom prst="roundRect">
            <a:avLst>
              <a:gd name="adj" fmla="val 50000"/>
            </a:avLst>
          </a:prstGeom>
          <a:solidFill>
            <a:srgbClr val="DFE9F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2889498" y="4792563"/>
            <a:ext cx="13465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65A84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 preparo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4521845" y="4697313"/>
            <a:ext cx="1143149" cy="457200"/>
          </a:xfrm>
          <a:prstGeom prst="roundRect">
            <a:avLst>
              <a:gd name="adj" fmla="val 50000"/>
            </a:avLst>
          </a:prstGeom>
          <a:solidFill>
            <a:srgbClr val="F9DDD9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7"/>
          <p:cNvSpPr/>
          <p:nvPr/>
        </p:nvSpPr>
        <p:spPr>
          <a:xfrm>
            <a:off x="4731395" y="4792563"/>
            <a:ext cx="8002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8F2D2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Crítico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952500" y="5421213"/>
            <a:ext cx="93030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BOTÕES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952500" y="5840313"/>
            <a:ext cx="1498997" cy="552450"/>
          </a:xfrm>
          <a:prstGeom prst="roundRect">
            <a:avLst>
              <a:gd name="adj" fmla="val 13793"/>
            </a:avLst>
          </a:prstGeom>
          <a:solidFill>
            <a:srgbClr val="5F34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1238250" y="5973663"/>
            <a:ext cx="100369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Primário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2603897" y="5840313"/>
            <a:ext cx="1816447" cy="552450"/>
          </a:xfrm>
          <a:prstGeom prst="roundRect">
            <a:avLst>
              <a:gd name="adj" fmla="val 13793"/>
            </a:avLst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2889647" y="5973663"/>
            <a:ext cx="132114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Secundário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4572744" y="5840313"/>
            <a:ext cx="1657796" cy="552450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4868019" y="5983188"/>
            <a:ext cx="11434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Fantasma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9981307" y="2297013"/>
            <a:ext cx="9525" cy="7285137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10562332" y="2297013"/>
            <a:ext cx="74503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TIPOGRAFIA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10562332" y="2697063"/>
            <a:ext cx="7450321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5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Arial / Helvetica</a:t>
            </a:r>
            <a:endParaRPr lang="en-US" sz="3450" dirty="0"/>
          </a:p>
        </p:txBody>
      </p:sp>
      <p:sp>
        <p:nvSpPr>
          <p:cNvPr id="40" name="Text 38"/>
          <p:cNvSpPr/>
          <p:nvPr/>
        </p:nvSpPr>
        <p:spPr>
          <a:xfrm>
            <a:off x="10562332" y="3255169"/>
            <a:ext cx="74503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Sem serifa do sistema · legibilidade instantânea · entrelinha 1,55</a:t>
            </a:r>
            <a:endParaRPr lang="en-US" sz="1800" dirty="0"/>
          </a:p>
        </p:txBody>
      </p:sp>
      <p:sp>
        <p:nvSpPr>
          <p:cNvPr id="41" name="Text 39"/>
          <p:cNvSpPr/>
          <p:nvPr/>
        </p:nvSpPr>
        <p:spPr>
          <a:xfrm>
            <a:off x="10562332" y="3788569"/>
            <a:ext cx="74503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FUNDAMENTOS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10562332" y="4550569"/>
            <a:ext cx="6773019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41"/>
          <p:cNvSpPr/>
          <p:nvPr/>
        </p:nvSpPr>
        <p:spPr>
          <a:xfrm>
            <a:off x="10562332" y="4188619"/>
            <a:ext cx="241850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Cantos arredondados</a:t>
            </a:r>
            <a:endParaRPr lang="en-US" sz="1800" dirty="0"/>
          </a:p>
        </p:txBody>
      </p:sp>
      <p:sp>
        <p:nvSpPr>
          <p:cNvPr id="44" name="Text 42"/>
          <p:cNvSpPr/>
          <p:nvPr/>
        </p:nvSpPr>
        <p:spPr>
          <a:xfrm>
            <a:off x="16356955" y="4188619"/>
            <a:ext cx="10545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8px / 6px</a:t>
            </a:r>
            <a:endParaRPr lang="en-US" sz="1800" dirty="0"/>
          </a:p>
        </p:txBody>
      </p:sp>
      <p:sp>
        <p:nvSpPr>
          <p:cNvPr id="45" name="Shape 43"/>
          <p:cNvSpPr/>
          <p:nvPr/>
        </p:nvSpPr>
        <p:spPr>
          <a:xfrm>
            <a:off x="10562332" y="5055394"/>
            <a:ext cx="6773019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10562332" y="4693444"/>
            <a:ext cx="22500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Alvo mínimo (toque)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16432857" y="4693444"/>
            <a:ext cx="9786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42–44px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10562332" y="5560219"/>
            <a:ext cx="6773019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/>
          <p:nvPr/>
        </p:nvSpPr>
        <p:spPr>
          <a:xfrm>
            <a:off x="10562332" y="5198269"/>
            <a:ext cx="23206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Largura do container</a:t>
            </a:r>
            <a:endParaRPr lang="en-US" sz="1800" dirty="0"/>
          </a:p>
        </p:txBody>
      </p:sp>
      <p:sp>
        <p:nvSpPr>
          <p:cNvPr id="50" name="Text 48"/>
          <p:cNvSpPr/>
          <p:nvPr/>
        </p:nvSpPr>
        <p:spPr>
          <a:xfrm>
            <a:off x="16559957" y="5198269"/>
            <a:ext cx="8515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1420px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0562332" y="5703094"/>
            <a:ext cx="173304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Tema acessível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5798403" y="5703094"/>
            <a:ext cx="16906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Alto contraste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FFD8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6499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E6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SISTEMA GERENCIADOR DE PRODUTOS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6305" y="70485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9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12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2E2E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476375"/>
            <a:ext cx="18021300" cy="572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4050" b="1" kern="0" spc="-75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Guia de estilo · modo escuro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952500" y="2087463"/>
            <a:ext cx="1802130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75" dirty="0">
                <a:solidFill>
                  <a:srgbClr val="E6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Tema de alto contraste, ativado pela classe </a:t>
            </a:r>
            <a:r>
              <a:rPr lang="en-US" sz="1875" dirty="0">
                <a:solidFill>
                  <a:srgbClr val="FFD8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.theme-high-contrast </a:t>
            </a:r>
            <a:r>
              <a:rPr lang="en-US" sz="1875" dirty="0">
                <a:solidFill>
                  <a:srgbClr val="E6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 </a:t>
            </a:r>
            <a:r>
              <a:rPr lang="en-US" sz="1875" dirty="0">
                <a:solidFill>
                  <a:srgbClr val="FFD8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html </a:t>
            </a:r>
            <a:r>
              <a:rPr lang="en-US" sz="1875" dirty="0" err="1">
                <a:solidFill>
                  <a:srgbClr val="E6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projetado</a:t>
            </a:r>
            <a:r>
              <a:rPr lang="en-US" sz="1875" dirty="0">
                <a:solidFill>
                  <a:srgbClr val="E6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para acessibilidade visual.</a:t>
            </a:r>
            <a:endParaRPr lang="en-US" sz="1875" dirty="0"/>
          </a:p>
        </p:txBody>
      </p:sp>
      <p:sp>
        <p:nvSpPr>
          <p:cNvPr id="8" name="Text 6"/>
          <p:cNvSpPr/>
          <p:nvPr/>
        </p:nvSpPr>
        <p:spPr>
          <a:xfrm>
            <a:off x="952500" y="2630388"/>
            <a:ext cx="93030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E6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PALETA — ALTO CONTRASTE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952500" y="3049488"/>
            <a:ext cx="8457307" cy="933450"/>
          </a:xfrm>
          <a:prstGeom prst="roundRect">
            <a:avLst>
              <a:gd name="adj" fmla="val 8163"/>
            </a:avLst>
          </a:prstGeom>
          <a:ln w="9525">
            <a:solidFill>
              <a:srgbClr val="3A3A3A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Shape 8"/>
          <p:cNvSpPr/>
          <p:nvPr/>
        </p:nvSpPr>
        <p:spPr>
          <a:xfrm>
            <a:off x="962025" y="3059013"/>
            <a:ext cx="1205359" cy="914400"/>
          </a:xfrm>
          <a:prstGeom prst="rect">
            <a:avLst/>
          </a:prstGeom>
          <a:solidFill>
            <a:srgbClr val="05050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2167384" y="3059013"/>
            <a:ext cx="1205508" cy="914400"/>
          </a:xfrm>
          <a:prstGeom prst="rect">
            <a:avLst/>
          </a:prstGeom>
          <a:solidFill>
            <a:srgbClr val="11111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3372892" y="3059013"/>
            <a:ext cx="1205359" cy="914400"/>
          </a:xfrm>
          <a:prstGeom prst="rect">
            <a:avLst/>
          </a:prstGeom>
          <a:solidFill>
            <a:srgbClr val="1D1D1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578251" y="3059013"/>
            <a:ext cx="1205508" cy="914400"/>
          </a:xfrm>
          <a:prstGeom prst="rect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Shape 12"/>
          <p:cNvSpPr/>
          <p:nvPr/>
        </p:nvSpPr>
        <p:spPr>
          <a:xfrm>
            <a:off x="5783759" y="3059013"/>
            <a:ext cx="1205508" cy="914400"/>
          </a:xfrm>
          <a:prstGeom prst="rect">
            <a:avLst/>
          </a:prstGeom>
          <a:solidFill>
            <a:srgbClr val="69A7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6989266" y="3059013"/>
            <a:ext cx="1205508" cy="914400"/>
          </a:xfrm>
          <a:prstGeom prst="rect">
            <a:avLst/>
          </a:prstGeom>
          <a:solidFill>
            <a:srgbClr val="E6E6E6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8194774" y="3059013"/>
            <a:ext cx="1205508" cy="914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52500" y="4078188"/>
            <a:ext cx="330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9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bg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2002185" y="4078188"/>
            <a:ext cx="8258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9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surface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547170" y="4078188"/>
            <a:ext cx="3177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9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alt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4584204" y="4078188"/>
            <a:ext cx="8383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9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primary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141690" y="4078188"/>
            <a:ext cx="74979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9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accent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610624" y="4078188"/>
            <a:ext cx="7115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9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muted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041309" y="4078188"/>
            <a:ext cx="4446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9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text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952500" y="4611588"/>
            <a:ext cx="93030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E6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BADGES DE STATUS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52500" y="5030688"/>
            <a:ext cx="1575048" cy="457200"/>
          </a:xfrm>
          <a:prstGeom prst="roundRect">
            <a:avLst>
              <a:gd name="adj" fmla="val 50000"/>
            </a:avLst>
          </a:prstGeom>
          <a:solidFill>
            <a:srgbClr val="053D28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1162050" y="5125938"/>
            <a:ext cx="123214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8FFD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Disponível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2679948" y="5030688"/>
            <a:ext cx="1689497" cy="457200"/>
          </a:xfrm>
          <a:prstGeom prst="roundRect">
            <a:avLst>
              <a:gd name="adj" fmla="val 50000"/>
            </a:avLst>
          </a:prstGeom>
          <a:solidFill>
            <a:srgbClr val="061F4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2889498" y="5125938"/>
            <a:ext cx="134659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D5EA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 preparo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4521845" y="5030688"/>
            <a:ext cx="1143149" cy="457200"/>
          </a:xfrm>
          <a:prstGeom prst="roundRect">
            <a:avLst>
              <a:gd name="adj" fmla="val 50000"/>
            </a:avLst>
          </a:prstGeom>
          <a:solidFill>
            <a:srgbClr val="4F070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731395" y="5125938"/>
            <a:ext cx="80024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6D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Crítico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52500" y="5754588"/>
            <a:ext cx="93030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E6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BOTÕES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952500" y="6173688"/>
            <a:ext cx="1498997" cy="552450"/>
          </a:xfrm>
          <a:prstGeom prst="roundRect">
            <a:avLst>
              <a:gd name="adj" fmla="val 13793"/>
            </a:avLst>
          </a:prstGeom>
          <a:solidFill>
            <a:srgbClr val="FFD8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31"/>
          <p:cNvSpPr/>
          <p:nvPr/>
        </p:nvSpPr>
        <p:spPr>
          <a:xfrm>
            <a:off x="1238250" y="6307038"/>
            <a:ext cx="1003697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5050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Primário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2603897" y="6173688"/>
            <a:ext cx="1600646" cy="552450"/>
          </a:xfrm>
          <a:prstGeom prst="roundRect">
            <a:avLst>
              <a:gd name="adj" fmla="val 13793"/>
            </a:avLst>
          </a:prstGeom>
          <a:solidFill>
            <a:srgbClr val="69A7F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2889647" y="6307038"/>
            <a:ext cx="1105346" cy="323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05050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Destaque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4356943" y="6173688"/>
            <a:ext cx="1657796" cy="552450"/>
          </a:xfrm>
          <a:prstGeom prst="roundRect">
            <a:avLst>
              <a:gd name="adj" fmla="val 13793"/>
            </a:avLst>
          </a:prstGeom>
          <a:ln w="9525">
            <a:solidFill>
              <a:srgbClr val="F5F5F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7" name="Text 35"/>
          <p:cNvSpPr/>
          <p:nvPr/>
        </p:nvSpPr>
        <p:spPr>
          <a:xfrm>
            <a:off x="4652218" y="6316563"/>
            <a:ext cx="11434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Fantasma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9981307" y="2630388"/>
            <a:ext cx="9525" cy="6951762"/>
          </a:xfrm>
          <a:prstGeom prst="rect">
            <a:avLst/>
          </a:prstGeom>
          <a:solidFill>
            <a:srgbClr val="2E2E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/>
          <p:nvPr/>
        </p:nvSpPr>
        <p:spPr>
          <a:xfrm>
            <a:off x="10562332" y="2630388"/>
            <a:ext cx="74503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E6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TIPOGRAFIA</a:t>
            </a:r>
            <a:endParaRPr lang="en-US" sz="1800" dirty="0"/>
          </a:p>
        </p:txBody>
      </p:sp>
      <p:sp>
        <p:nvSpPr>
          <p:cNvPr id="40" name="Text 38"/>
          <p:cNvSpPr/>
          <p:nvPr/>
        </p:nvSpPr>
        <p:spPr>
          <a:xfrm>
            <a:off x="10562332" y="3030438"/>
            <a:ext cx="7450321" cy="5200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345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Arial / Helvetica</a:t>
            </a:r>
            <a:endParaRPr lang="en-US" sz="3450" dirty="0"/>
          </a:p>
        </p:txBody>
      </p:sp>
      <p:sp>
        <p:nvSpPr>
          <p:cNvPr id="41" name="Text 39"/>
          <p:cNvSpPr/>
          <p:nvPr/>
        </p:nvSpPr>
        <p:spPr>
          <a:xfrm>
            <a:off x="10562332" y="3588544"/>
            <a:ext cx="74503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9A9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Texto em branco puro sobre fundo quase preto · entrelinha 1,55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10562332" y="4121944"/>
            <a:ext cx="74503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E6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FUNDAMENTOS</a:t>
            </a:r>
            <a:endParaRPr lang="en-US" sz="1800" dirty="0"/>
          </a:p>
        </p:txBody>
      </p:sp>
      <p:sp>
        <p:nvSpPr>
          <p:cNvPr id="43" name="Shape 41"/>
          <p:cNvSpPr/>
          <p:nvPr/>
        </p:nvSpPr>
        <p:spPr>
          <a:xfrm>
            <a:off x="10562332" y="4883944"/>
            <a:ext cx="6773019" cy="9525"/>
          </a:xfrm>
          <a:prstGeom prst="rect">
            <a:avLst/>
          </a:prstGeom>
          <a:solidFill>
            <a:srgbClr val="2E2E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10562332" y="4521994"/>
            <a:ext cx="16492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6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Marca e ações</a:t>
            </a:r>
            <a:endParaRPr lang="en-US" sz="1800" dirty="0"/>
          </a:p>
        </p:txBody>
      </p:sp>
      <p:sp>
        <p:nvSpPr>
          <p:cNvPr id="45" name="Text 43"/>
          <p:cNvSpPr/>
          <p:nvPr/>
        </p:nvSpPr>
        <p:spPr>
          <a:xfrm>
            <a:off x="15544056" y="4521994"/>
            <a:ext cx="19704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D84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Amarelo #ffd84d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0562332" y="5388769"/>
            <a:ext cx="6773019" cy="9525"/>
          </a:xfrm>
          <a:prstGeom prst="rect">
            <a:avLst/>
          </a:prstGeom>
          <a:solidFill>
            <a:srgbClr val="2E2E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5"/>
          <p:cNvSpPr/>
          <p:nvPr/>
        </p:nvSpPr>
        <p:spPr>
          <a:xfrm>
            <a:off x="10562332" y="5026819"/>
            <a:ext cx="17751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6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Links e carrinho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16001256" y="5026819"/>
            <a:ext cx="14675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69A7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Azul #69a7ff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10562332" y="5893594"/>
            <a:ext cx="6773019" cy="9525"/>
          </a:xfrm>
          <a:prstGeom prst="rect">
            <a:avLst/>
          </a:prstGeom>
          <a:solidFill>
            <a:srgbClr val="2E2E2E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10562332" y="5531644"/>
            <a:ext cx="8005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6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Bordas</a:t>
            </a: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15594955" y="5531644"/>
            <a:ext cx="19144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Alta visibilidade</a:t>
            </a:r>
            <a:endParaRPr lang="en-US" sz="1800" dirty="0"/>
          </a:p>
        </p:txBody>
      </p:sp>
      <p:sp>
        <p:nvSpPr>
          <p:cNvPr id="52" name="Text 50"/>
          <p:cNvSpPr/>
          <p:nvPr/>
        </p:nvSpPr>
        <p:spPr>
          <a:xfrm>
            <a:off x="10562332" y="6036469"/>
            <a:ext cx="9910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6E6E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Sombras</a:t>
            </a:r>
            <a:endParaRPr lang="en-US" sz="1800" dirty="0"/>
          </a:p>
        </p:txBody>
      </p:sp>
      <p:sp>
        <p:nvSpPr>
          <p:cNvPr id="53" name="Text 51"/>
          <p:cNvSpPr/>
          <p:nvPr/>
        </p:nvSpPr>
        <p:spPr>
          <a:xfrm>
            <a:off x="16115556" y="6036469"/>
            <a:ext cx="134177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Removidas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58772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REGRAS DE OURO · SHNEIDERMAN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6305" y="70485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304925"/>
            <a:ext cx="18021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Regras de ouro aplicadas </a:t>
            </a:r>
            <a:r>
              <a:rPr lang="en-US" sz="3750" kern="0" spc="-75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1 a 4</a:t>
            </a:r>
            <a:endParaRPr lang="en-US" sz="3750" dirty="0"/>
          </a:p>
        </p:txBody>
      </p:sp>
      <p:sp>
        <p:nvSpPr>
          <p:cNvPr id="7" name="Shape 5"/>
          <p:cNvSpPr/>
          <p:nvPr/>
        </p:nvSpPr>
        <p:spPr>
          <a:xfrm>
            <a:off x="952500" y="3209032"/>
            <a:ext cx="7953375" cy="1643955"/>
          </a:xfrm>
          <a:prstGeom prst="roundRect">
            <a:avLst>
              <a:gd name="adj" fmla="val 4635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285750" dist="114300" dir="5400000" algn="bl" rotWithShape="0">
              <a:srgbClr val="442B1E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285875" y="3504307"/>
            <a:ext cx="2140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557040" y="3504307"/>
            <a:ext cx="176087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Consistência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285875" y="3894832"/>
            <a:ext cx="750522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Cabeçalho, navegação, botões e badges seguem o mesmo padrão em todas as telas.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82125" y="3209032"/>
            <a:ext cx="7953375" cy="1643955"/>
          </a:xfrm>
          <a:prstGeom prst="roundRect">
            <a:avLst>
              <a:gd name="adj" fmla="val 4635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285750" dist="114300" dir="5400000" algn="bl" rotWithShape="0">
              <a:srgbClr val="442B1E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715500" y="3504307"/>
            <a:ext cx="2140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986665" y="3504307"/>
            <a:ext cx="290865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Usabilidade universal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9715500" y="3894832"/>
            <a:ext cx="750522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Três tamanhos de fonte, modo escuro e atalho "Repetir último pedido" atendem perfis diversos.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2500" y="5100638"/>
            <a:ext cx="7953375" cy="1643955"/>
          </a:xfrm>
          <a:prstGeom prst="roundRect">
            <a:avLst>
              <a:gd name="adj" fmla="val 4635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285750" dist="114300" dir="5400000" algn="bl" rotWithShape="0">
              <a:srgbClr val="442B1E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285875" y="5395913"/>
            <a:ext cx="2140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557040" y="5395913"/>
            <a:ext cx="2924041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Feedback informativo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285875" y="5786438"/>
            <a:ext cx="750522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Toasts de sucesso e badges de status confirmam cada ação ("Pedido confirmado com sucesso").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382125" y="5100638"/>
            <a:ext cx="7953375" cy="1643955"/>
          </a:xfrm>
          <a:prstGeom prst="roundRect">
            <a:avLst>
              <a:gd name="adj" fmla="val 4635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285750" dist="114300" dir="5400000" algn="bl" rotWithShape="0">
              <a:srgbClr val="442B1E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715500" y="5395913"/>
            <a:ext cx="2140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4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986665" y="5395913"/>
            <a:ext cx="3804478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Diálogos com encerramento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715500" y="5786438"/>
            <a:ext cx="750522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tela de confirmação fecha o ciclo com número do pedido, resumo e próximos passos.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" y="8153400"/>
            <a:ext cx="1802011" cy="1447800"/>
          </a:xfrm>
          <a:prstGeom prst="roundRect">
            <a:avLst>
              <a:gd name="adj" fmla="val 3947"/>
            </a:avLst>
          </a:prstGeom>
          <a:ln w="9525">
            <a:solidFill>
              <a:srgbClr val="E5DED4"/>
            </a:solidFill>
            <a:prstDash val="solid"/>
          </a:ln>
          <a:effectLst>
            <a:outerShdw blurRad="190500" dist="76200" dir="5400000" algn="bl" rotWithShape="0">
              <a:srgbClr val="442B1E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500" y="8153400"/>
            <a:ext cx="1802011" cy="144780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2925961" y="8153400"/>
            <a:ext cx="1820019" cy="1447800"/>
          </a:xfrm>
          <a:prstGeom prst="roundRect">
            <a:avLst>
              <a:gd name="adj" fmla="val 3947"/>
            </a:avLst>
          </a:prstGeom>
          <a:ln w="9525">
            <a:solidFill>
              <a:srgbClr val="E5DED4"/>
            </a:solidFill>
            <a:prstDash val="solid"/>
          </a:ln>
          <a:effectLst>
            <a:outerShdw blurRad="190500" dist="76200" dir="5400000" algn="bl" rotWithShape="0">
              <a:srgbClr val="442B1E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25961" y="8153400"/>
            <a:ext cx="1820019" cy="144780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4917430" y="8153400"/>
            <a:ext cx="1701254" cy="1447800"/>
          </a:xfrm>
          <a:prstGeom prst="roundRect">
            <a:avLst>
              <a:gd name="adj" fmla="val 3947"/>
            </a:avLst>
          </a:prstGeom>
          <a:ln w="9525">
            <a:solidFill>
              <a:srgbClr val="E5DED4"/>
            </a:solidFill>
            <a:prstDash val="solid"/>
          </a:ln>
          <a:effectLst>
            <a:outerShdw blurRad="190500" dist="76200" dir="5400000" algn="bl" rotWithShape="0">
              <a:srgbClr val="442B1E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917430" y="8153400"/>
            <a:ext cx="1701254" cy="14478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790134" y="8153400"/>
            <a:ext cx="10861727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Evidências: confirmação do pedido, acompanhamento de status e tema de alto contraste.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587722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REGRAS DE OURO · SHNEIDERMAN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6305" y="70485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13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304925"/>
            <a:ext cx="18021300" cy="533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Regras de ouro aplicadas </a:t>
            </a:r>
            <a:r>
              <a:rPr lang="en-US" sz="3750" kern="0" spc="-75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· 5 a 8</a:t>
            </a:r>
            <a:endParaRPr lang="en-US" sz="3750" dirty="0"/>
          </a:p>
        </p:txBody>
      </p:sp>
      <p:sp>
        <p:nvSpPr>
          <p:cNvPr id="7" name="Shape 5"/>
          <p:cNvSpPr/>
          <p:nvPr/>
        </p:nvSpPr>
        <p:spPr>
          <a:xfrm>
            <a:off x="952500" y="3209032"/>
            <a:ext cx="7953375" cy="1643955"/>
          </a:xfrm>
          <a:prstGeom prst="roundRect">
            <a:avLst>
              <a:gd name="adj" fmla="val 4635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285750" dist="114300" dir="5400000" algn="bl" rotWithShape="0">
              <a:srgbClr val="442B1E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1285875" y="3504307"/>
            <a:ext cx="2140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557040" y="3504307"/>
            <a:ext cx="2626087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Prevenção de erros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1285875" y="3894832"/>
            <a:ext cx="750522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Validação de CPF, e-mail e data no cadastro; item "Esgotado" tem o botão de adicionar desabilitado.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382125" y="3209032"/>
            <a:ext cx="7953375" cy="1643955"/>
          </a:xfrm>
          <a:prstGeom prst="roundRect">
            <a:avLst>
              <a:gd name="adj" fmla="val 4635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285750" dist="114300" dir="5400000" algn="bl" rotWithShape="0">
              <a:srgbClr val="442B1E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9715500" y="3504307"/>
            <a:ext cx="2140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6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986665" y="3504307"/>
            <a:ext cx="256338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Reversão de ações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9715500" y="3894832"/>
            <a:ext cx="750522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Ajuste de quantidade e remoção no carrinho; alternância "Disponibilizar / Indisponibilizar".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52500" y="5100638"/>
            <a:ext cx="7953375" cy="1643955"/>
          </a:xfrm>
          <a:prstGeom prst="roundRect">
            <a:avLst>
              <a:gd name="adj" fmla="val 4635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285750" dist="114300" dir="5400000" algn="bl" rotWithShape="0">
              <a:srgbClr val="442B1E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1285875" y="5395913"/>
            <a:ext cx="2140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7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557040" y="5395913"/>
            <a:ext cx="29235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Controle pelo usuário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1285875" y="5786438"/>
            <a:ext cx="750522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gerente altera o status do pedido; o cliente escolhe entrega ou retirada e a forma de pagamento.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382125" y="5100638"/>
            <a:ext cx="7953375" cy="1643955"/>
          </a:xfrm>
          <a:prstGeom prst="roundRect">
            <a:avLst>
              <a:gd name="adj" fmla="val 4635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285750" dist="114300" dir="5400000" algn="bl" rotWithShape="0">
              <a:srgbClr val="442B1E">
                <a:alpha val="7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9715500" y="5395913"/>
            <a:ext cx="21401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9986665" y="5395913"/>
            <a:ext cx="3537466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Reduzir carga de memória</a:t>
            </a:r>
            <a:endParaRPr lang="en-US" sz="2025" dirty="0"/>
          </a:p>
        </p:txBody>
      </p:sp>
      <p:sp>
        <p:nvSpPr>
          <p:cNvPr id="22" name="Text 20"/>
          <p:cNvSpPr/>
          <p:nvPr/>
        </p:nvSpPr>
        <p:spPr>
          <a:xfrm>
            <a:off x="9715500" y="5786438"/>
            <a:ext cx="7505224" cy="7009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00" dirty="0">
                <a:solidFill>
                  <a:srgbClr val="4A3F3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"Usar endereço do cadastro", "Repetir último pedido" e a régua de status sempre visível.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952500" y="8153400"/>
            <a:ext cx="1793974" cy="1447800"/>
          </a:xfrm>
          <a:prstGeom prst="roundRect">
            <a:avLst>
              <a:gd name="adj" fmla="val 3947"/>
            </a:avLst>
          </a:prstGeom>
          <a:ln w="9525">
            <a:solidFill>
              <a:srgbClr val="E5DED4"/>
            </a:solidFill>
            <a:prstDash val="solid"/>
          </a:ln>
          <a:effectLst>
            <a:outerShdw blurRad="190500" dist="76200" dir="5400000" algn="bl" rotWithShape="0">
              <a:srgbClr val="442B1E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952500" y="8153400"/>
            <a:ext cx="1793974" cy="1447800"/>
          </a:xfrm>
          <a:prstGeom prst="rect">
            <a:avLst/>
          </a:prstGeom>
        </p:spPr>
      </p:pic>
      <p:sp>
        <p:nvSpPr>
          <p:cNvPr id="25" name="Shape 22"/>
          <p:cNvSpPr/>
          <p:nvPr/>
        </p:nvSpPr>
        <p:spPr>
          <a:xfrm>
            <a:off x="2917924" y="8153400"/>
            <a:ext cx="1791146" cy="1447800"/>
          </a:xfrm>
          <a:prstGeom prst="roundRect">
            <a:avLst>
              <a:gd name="adj" fmla="val 3947"/>
            </a:avLst>
          </a:prstGeom>
          <a:ln w="9525">
            <a:solidFill>
              <a:srgbClr val="E5DED4"/>
            </a:solidFill>
            <a:prstDash val="solid"/>
          </a:ln>
          <a:effectLst>
            <a:outerShdw blurRad="190500" dist="76200" dir="5400000" algn="bl" rotWithShape="0">
              <a:srgbClr val="442B1E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6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2917924" y="8153400"/>
            <a:ext cx="1791146" cy="1447800"/>
          </a:xfrm>
          <a:prstGeom prst="rect">
            <a:avLst/>
          </a:prstGeom>
        </p:spPr>
      </p:pic>
      <p:sp>
        <p:nvSpPr>
          <p:cNvPr id="27" name="Shape 23"/>
          <p:cNvSpPr/>
          <p:nvPr/>
        </p:nvSpPr>
        <p:spPr>
          <a:xfrm>
            <a:off x="4880521" y="8153400"/>
            <a:ext cx="1800076" cy="1447800"/>
          </a:xfrm>
          <a:prstGeom prst="roundRect">
            <a:avLst>
              <a:gd name="adj" fmla="val 3947"/>
            </a:avLst>
          </a:prstGeom>
          <a:ln w="9525">
            <a:solidFill>
              <a:srgbClr val="E5DED4"/>
            </a:solidFill>
            <a:prstDash val="solid"/>
          </a:ln>
          <a:effectLst>
            <a:outerShdw blurRad="190500" dist="76200" dir="5400000" algn="bl" rotWithShape="0">
              <a:srgbClr val="442B1E">
                <a:alpha val="10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80521" y="8153400"/>
            <a:ext cx="1800076" cy="1447800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6852047" y="8153400"/>
            <a:ext cx="10797957" cy="1466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l">
              <a:lnSpc>
                <a:spcPct val="140000"/>
              </a:lnSpc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Evidências: validação no cadastro, ajustes no carrinho e alternância de disponibilidade.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F2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6499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D9C3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SISTEMA GERENCIADOR DE PRODUTOS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6305" y="70485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98F7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14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6B4A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533525"/>
            <a:ext cx="180213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75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Segurança e LGPD</a:t>
            </a:r>
            <a:endParaRPr lang="en-US" sz="4350" dirty="0"/>
          </a:p>
        </p:txBody>
      </p:sp>
      <p:sp>
        <p:nvSpPr>
          <p:cNvPr id="7" name="Shape 5"/>
          <p:cNvSpPr/>
          <p:nvPr/>
        </p:nvSpPr>
        <p:spPr>
          <a:xfrm>
            <a:off x="952500" y="4672608"/>
            <a:ext cx="7905750" cy="19050"/>
          </a:xfrm>
          <a:prstGeom prst="rect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952500" y="4920258"/>
            <a:ext cx="86963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E3B7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Minimização de dados</a:t>
            </a:r>
            <a:endParaRPr lang="en-US" sz="2025" dirty="0"/>
          </a:p>
        </p:txBody>
      </p:sp>
      <p:sp>
        <p:nvSpPr>
          <p:cNvPr id="9" name="Text 7"/>
          <p:cNvSpPr/>
          <p:nvPr/>
        </p:nvSpPr>
        <p:spPr>
          <a:xfrm>
            <a:off x="952500" y="5310783"/>
            <a:ext cx="869632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dirty="0">
                <a:solidFill>
                  <a:srgbClr val="ECDFD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Coleta apenas do </a:t>
            </a:r>
            <a:r>
              <a:rPr lang="en-US" sz="1875" dirty="0" err="1">
                <a:solidFill>
                  <a:srgbClr val="ECDFD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necessário</a:t>
            </a:r>
            <a:r>
              <a:rPr lang="en-US" sz="1875" dirty="0">
                <a:solidFill>
                  <a:srgbClr val="ECDFD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: </a:t>
            </a:r>
            <a:r>
              <a:rPr lang="en-US" sz="1875" dirty="0" err="1">
                <a:solidFill>
                  <a:srgbClr val="ECDFD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nome</a:t>
            </a:r>
            <a:r>
              <a:rPr lang="en-US" sz="1875" dirty="0">
                <a:solidFill>
                  <a:srgbClr val="ECDFD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, contato e dados do pedido.</a:t>
            </a:r>
            <a:endParaRPr lang="en-US" sz="1875" dirty="0"/>
          </a:p>
        </p:txBody>
      </p:sp>
      <p:sp>
        <p:nvSpPr>
          <p:cNvPr id="10" name="Shape 8"/>
          <p:cNvSpPr/>
          <p:nvPr/>
        </p:nvSpPr>
        <p:spPr>
          <a:xfrm>
            <a:off x="9429750" y="4672608"/>
            <a:ext cx="7905750" cy="19050"/>
          </a:xfrm>
          <a:prstGeom prst="rect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9429750" y="4920258"/>
            <a:ext cx="86963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E3B7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Consentimento e finalidade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9429750" y="5310783"/>
            <a:ext cx="869632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dirty="0">
                <a:solidFill>
                  <a:srgbClr val="ECDFD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Uso informado e restrito ao atendimento do pedido.</a:t>
            </a:r>
            <a:endParaRPr lang="en-US" sz="1875" dirty="0"/>
          </a:p>
        </p:txBody>
      </p:sp>
      <p:sp>
        <p:nvSpPr>
          <p:cNvPr id="13" name="Shape 11"/>
          <p:cNvSpPr/>
          <p:nvPr/>
        </p:nvSpPr>
        <p:spPr>
          <a:xfrm>
            <a:off x="952500" y="5979914"/>
            <a:ext cx="7905750" cy="19050"/>
          </a:xfrm>
          <a:prstGeom prst="rect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52500" y="6227564"/>
            <a:ext cx="86963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E3B7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Controle de acesso</a:t>
            </a:r>
            <a:endParaRPr lang="en-US" sz="2025" dirty="0"/>
          </a:p>
        </p:txBody>
      </p:sp>
      <p:sp>
        <p:nvSpPr>
          <p:cNvPr id="15" name="Text 13"/>
          <p:cNvSpPr/>
          <p:nvPr/>
        </p:nvSpPr>
        <p:spPr>
          <a:xfrm>
            <a:off x="952500" y="6618089"/>
            <a:ext cx="8142923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dirty="0">
                <a:solidFill>
                  <a:srgbClr val="ECDFD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Autenticação e perfis distintos para cliente e gerente (links administrativos ocultos por perfil).</a:t>
            </a:r>
            <a:endParaRPr lang="en-US" sz="1875" dirty="0"/>
          </a:p>
        </p:txBody>
      </p:sp>
      <p:sp>
        <p:nvSpPr>
          <p:cNvPr id="16" name="Shape 14"/>
          <p:cNvSpPr/>
          <p:nvPr/>
        </p:nvSpPr>
        <p:spPr>
          <a:xfrm>
            <a:off x="9429750" y="5979914"/>
            <a:ext cx="7905750" cy="19050"/>
          </a:xfrm>
          <a:prstGeom prst="rect">
            <a:avLst/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9429750" y="6227564"/>
            <a:ext cx="8696325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2025" b="1" dirty="0">
                <a:solidFill>
                  <a:srgbClr val="E3B7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Direitos do titular</a:t>
            </a:r>
            <a:endParaRPr lang="en-US" sz="2025" dirty="0"/>
          </a:p>
        </p:txBody>
      </p:sp>
      <p:sp>
        <p:nvSpPr>
          <p:cNvPr id="18" name="Text 16"/>
          <p:cNvSpPr/>
          <p:nvPr/>
        </p:nvSpPr>
        <p:spPr>
          <a:xfrm>
            <a:off x="9429750" y="6618089"/>
            <a:ext cx="8696325" cy="38338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1875" dirty="0">
                <a:solidFill>
                  <a:srgbClr val="ECDFD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Acesso, correção e exclusão dos dados sob solicitação.</a:t>
            </a:r>
            <a:endParaRPr lang="en-US" sz="187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6499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SISTEMA GERENCIADOR DE PRODUTOS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6305" y="70485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15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533525"/>
            <a:ext cx="180213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Plano e relatório de testes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52500" y="4993332"/>
            <a:ext cx="94297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ESTRATÉGIA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52500" y="5526732"/>
            <a:ext cx="4000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85900" y="5488632"/>
            <a:ext cx="6572830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Testes funcionais por requisito (casos de aceitação).</a:t>
            </a:r>
            <a:endParaRPr lang="en-US" sz="2025" dirty="0"/>
          </a:p>
        </p:txBody>
      </p:sp>
      <p:sp>
        <p:nvSpPr>
          <p:cNvPr id="10" name="Text 8"/>
          <p:cNvSpPr/>
          <p:nvPr/>
        </p:nvSpPr>
        <p:spPr>
          <a:xfrm>
            <a:off x="952500" y="6109097"/>
            <a:ext cx="4000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485900" y="6070997"/>
            <a:ext cx="7736979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Testes de usabilidade com usuários reais executando tarefas.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952500" y="6691461"/>
            <a:ext cx="4000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c.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485900" y="6653361"/>
            <a:ext cx="5550947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Registro de defeitos, severidade e correção.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10191750" y="4371380"/>
            <a:ext cx="3457575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/>
          <p:nvPr/>
        </p:nvSpPr>
        <p:spPr>
          <a:xfrm>
            <a:off x="10487025" y="4666655"/>
            <a:ext cx="31537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50" b="1" dirty="0">
                <a:solidFill>
                  <a:srgbClr val="5F34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24</a:t>
            </a:r>
            <a:endParaRPr lang="en-US" sz="4650" dirty="0"/>
          </a:p>
        </p:txBody>
      </p:sp>
      <p:sp>
        <p:nvSpPr>
          <p:cNvPr id="16" name="Text 14"/>
          <p:cNvSpPr/>
          <p:nvPr/>
        </p:nvSpPr>
        <p:spPr>
          <a:xfrm>
            <a:off x="10487025" y="5333405"/>
            <a:ext cx="31537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Casos de teste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13877925" y="4371380"/>
            <a:ext cx="3457575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14173200" y="4666655"/>
            <a:ext cx="31537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50" b="1" dirty="0">
                <a:solidFill>
                  <a:srgbClr val="3F826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21</a:t>
            </a:r>
            <a:endParaRPr lang="en-US" sz="4650" dirty="0"/>
          </a:p>
        </p:txBody>
      </p:sp>
      <p:sp>
        <p:nvSpPr>
          <p:cNvPr id="19" name="Text 17"/>
          <p:cNvSpPr/>
          <p:nvPr/>
        </p:nvSpPr>
        <p:spPr>
          <a:xfrm>
            <a:off x="14173200" y="5333405"/>
            <a:ext cx="31537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Aprovados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191750" y="6123980"/>
            <a:ext cx="3457575" cy="1524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0487025" y="6419255"/>
            <a:ext cx="3153728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50" b="1" dirty="0">
                <a:solidFill>
                  <a:srgbClr val="5F3422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5</a:t>
            </a:r>
            <a:endParaRPr lang="en-US" sz="4650" dirty="0"/>
          </a:p>
        </p:txBody>
      </p:sp>
      <p:sp>
        <p:nvSpPr>
          <p:cNvPr id="22" name="Text 20"/>
          <p:cNvSpPr/>
          <p:nvPr/>
        </p:nvSpPr>
        <p:spPr>
          <a:xfrm>
            <a:off x="10487025" y="7086005"/>
            <a:ext cx="31537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Participantes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3877925" y="6123980"/>
            <a:ext cx="3457575" cy="1524000"/>
          </a:xfrm>
          <a:prstGeom prst="roundRect">
            <a:avLst>
              <a:gd name="adj" fmla="val 5000"/>
            </a:avLst>
          </a:prstGeom>
          <a:solidFill>
            <a:srgbClr val="5F3422"/>
          </a:solidFill>
          <a:ln/>
          <a:effectLst>
            <a:outerShdw blurRad="428625" dist="171450" dir="5400000" algn="bl" rotWithShape="0">
              <a:srgbClr val="442B1E">
                <a:alpha val="16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14163675" y="6409730"/>
            <a:ext cx="3174683" cy="628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650" b="1" dirty="0">
                <a:solidFill>
                  <a:srgbClr val="E3B7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87%</a:t>
            </a:r>
            <a:endParaRPr lang="en-US" sz="4650" dirty="0"/>
          </a:p>
        </p:txBody>
      </p:sp>
      <p:sp>
        <p:nvSpPr>
          <p:cNvPr id="25" name="Text 23"/>
          <p:cNvSpPr/>
          <p:nvPr/>
        </p:nvSpPr>
        <p:spPr>
          <a:xfrm>
            <a:off x="14163675" y="7076480"/>
            <a:ext cx="317468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dirty="0">
                <a:solidFill>
                  <a:srgbClr val="ECDFD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Taxa de sucesso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6499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SISTEMA GERENCIADOR DE PRODUTOS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6305" y="70485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16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533525"/>
            <a:ext cx="180213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Melhorias e evolução pós-testes</a:t>
            </a:r>
            <a:endParaRPr lang="en-US" sz="4350" dirty="0"/>
          </a:p>
        </p:txBody>
      </p:sp>
      <p:sp>
        <p:nvSpPr>
          <p:cNvPr id="7" name="Shape 5"/>
          <p:cNvSpPr/>
          <p:nvPr/>
        </p:nvSpPr>
        <p:spPr>
          <a:xfrm>
            <a:off x="952500" y="4485680"/>
            <a:ext cx="16383000" cy="295275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9525">
            <a:solidFill>
              <a:srgbClr val="E5DED4"/>
            </a:solidFill>
            <a:prstDash val="solid"/>
          </a:ln>
          <a:effectLst>
            <a:outerShdw blurRad="428625" dist="171450" dir="5400000" algn="bl" rotWithShape="0">
              <a:srgbClr val="442B1E">
                <a:alpha val="8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Shape 6"/>
          <p:cNvSpPr/>
          <p:nvPr/>
        </p:nvSpPr>
        <p:spPr>
          <a:xfrm>
            <a:off x="962025" y="4495205"/>
            <a:ext cx="16363950" cy="647700"/>
          </a:xfrm>
          <a:prstGeom prst="rect">
            <a:avLst/>
          </a:prstGeom>
          <a:solidFill>
            <a:srgbClr val="5F342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228725" y="4685705"/>
            <a:ext cx="78940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ACHADO NO TESTE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10700" y="4685705"/>
            <a:ext cx="78940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13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AJUSTE APLICADO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962025" y="5142905"/>
            <a:ext cx="163639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1228725" y="5381030"/>
            <a:ext cx="78940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Usuários não achavam o botão de nova encomenda.</a:t>
            </a:r>
            <a:endParaRPr lang="en-US" sz="1950" dirty="0"/>
          </a:p>
        </p:txBody>
      </p:sp>
      <p:sp>
        <p:nvSpPr>
          <p:cNvPr id="13" name="Shape 11"/>
          <p:cNvSpPr/>
          <p:nvPr/>
        </p:nvSpPr>
        <p:spPr>
          <a:xfrm>
            <a:off x="9144000" y="5152430"/>
            <a:ext cx="9525" cy="75247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9420225" y="5381030"/>
            <a:ext cx="78845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Ação primária fixa e destacada no topo da tela.</a:t>
            </a:r>
            <a:endParaRPr lang="en-US" sz="1950" dirty="0"/>
          </a:p>
        </p:txBody>
      </p:sp>
      <p:sp>
        <p:nvSpPr>
          <p:cNvPr id="15" name="Shape 13"/>
          <p:cNvSpPr/>
          <p:nvPr/>
        </p:nvSpPr>
        <p:spPr>
          <a:xfrm>
            <a:off x="962025" y="5904905"/>
            <a:ext cx="16363950" cy="762000"/>
          </a:xfrm>
          <a:prstGeom prst="rect">
            <a:avLst/>
          </a:prstGeom>
          <a:solidFill>
            <a:srgbClr val="F3EFE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Shape 14"/>
          <p:cNvSpPr/>
          <p:nvPr/>
        </p:nvSpPr>
        <p:spPr>
          <a:xfrm>
            <a:off x="962025" y="5904905"/>
            <a:ext cx="163639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1228725" y="6143030"/>
            <a:ext cx="78940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Dúvida sobre o saldo após baixar insumo.</a:t>
            </a:r>
            <a:endParaRPr lang="en-US" sz="1950" dirty="0"/>
          </a:p>
        </p:txBody>
      </p:sp>
      <p:sp>
        <p:nvSpPr>
          <p:cNvPr id="18" name="Shape 16"/>
          <p:cNvSpPr/>
          <p:nvPr/>
        </p:nvSpPr>
        <p:spPr>
          <a:xfrm>
            <a:off x="9144000" y="5914430"/>
            <a:ext cx="9525" cy="75247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9420225" y="6143030"/>
            <a:ext cx="78845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Feedback imediato do saldo restante e do nível crítico.</a:t>
            </a:r>
            <a:endParaRPr lang="en-US" sz="1950" dirty="0"/>
          </a:p>
        </p:txBody>
      </p:sp>
      <p:sp>
        <p:nvSpPr>
          <p:cNvPr id="20" name="Shape 18"/>
          <p:cNvSpPr/>
          <p:nvPr/>
        </p:nvSpPr>
        <p:spPr>
          <a:xfrm>
            <a:off x="962025" y="6666905"/>
            <a:ext cx="1636395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1228725" y="6905030"/>
            <a:ext cx="7894034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Status do pedido pouco claro.</a:t>
            </a:r>
            <a:endParaRPr lang="en-US" sz="1950" dirty="0"/>
          </a:p>
        </p:txBody>
      </p:sp>
      <p:sp>
        <p:nvSpPr>
          <p:cNvPr id="22" name="Shape 20"/>
          <p:cNvSpPr/>
          <p:nvPr/>
        </p:nvSpPr>
        <p:spPr>
          <a:xfrm>
            <a:off x="9144000" y="6676430"/>
            <a:ext cx="9525" cy="75247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21"/>
          <p:cNvSpPr/>
          <p:nvPr/>
        </p:nvSpPr>
        <p:spPr>
          <a:xfrm>
            <a:off x="9420225" y="6905030"/>
            <a:ext cx="7884509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Régua de status com cor e texto padronizados.</a:t>
            </a:r>
            <a:endParaRPr lang="en-US" sz="1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3F2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E3B75F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6499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D9C3B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SISTEMA GERENCIADOR DE PRODUTOS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6305" y="70485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A98F7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17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6B4A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533525"/>
            <a:ext cx="180213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75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Considerações finais e próximos passos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952500" y="5076230"/>
            <a:ext cx="8427894" cy="1924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475" dirty="0">
                <a:solidFill>
                  <a:srgbClr val="F4EB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SGP entregou um protótipo de alta fidelidade que integra catálogo, encomendas personalizadas e estoque de insumos, validado por testes com usuários e fundamentado no design centrado no usuário.</a:t>
            </a:r>
            <a:endParaRPr lang="en-US" sz="2475" dirty="0"/>
          </a:p>
        </p:txBody>
      </p:sp>
      <p:sp>
        <p:nvSpPr>
          <p:cNvPr id="8" name="Shape 6"/>
          <p:cNvSpPr/>
          <p:nvPr/>
        </p:nvSpPr>
        <p:spPr>
          <a:xfrm>
            <a:off x="9896921" y="4768751"/>
            <a:ext cx="9525" cy="2500908"/>
          </a:xfrm>
          <a:prstGeom prst="rect">
            <a:avLst/>
          </a:prstGeom>
          <a:solidFill>
            <a:srgbClr val="6B4A37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/>
          <p:nvPr/>
        </p:nvSpPr>
        <p:spPr>
          <a:xfrm>
            <a:off x="10420796" y="4768751"/>
            <a:ext cx="76061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kern="0" spc="188" dirty="0">
                <a:solidFill>
                  <a:srgbClr val="E3B75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PRÓXIMOS PASSOS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420796" y="5321201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0839896" y="5283101"/>
            <a:ext cx="6690472" cy="7837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F4EB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Implementar o backend e a persistência em banco de dados.</a:t>
            </a:r>
            <a:endParaRPr lang="en-US" sz="2025" dirty="0"/>
          </a:p>
        </p:txBody>
      </p:sp>
      <p:sp>
        <p:nvSpPr>
          <p:cNvPr id="12" name="Text 10"/>
          <p:cNvSpPr/>
          <p:nvPr/>
        </p:nvSpPr>
        <p:spPr>
          <a:xfrm>
            <a:off x="10420796" y="6314480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10839896" y="6276380"/>
            <a:ext cx="666696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F4EB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Automatizar a baixa de insumos a partir das receitas.</a:t>
            </a:r>
            <a:endParaRPr lang="en-US" sz="2025" dirty="0"/>
          </a:p>
        </p:txBody>
      </p:sp>
      <p:sp>
        <p:nvSpPr>
          <p:cNvPr id="14" name="Text 12"/>
          <p:cNvSpPr/>
          <p:nvPr/>
        </p:nvSpPr>
        <p:spPr>
          <a:xfrm>
            <a:off x="10420796" y="6934944"/>
            <a:ext cx="323850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950" b="1" dirty="0">
                <a:solidFill>
                  <a:srgbClr val="C8553D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→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0839896" y="6896844"/>
            <a:ext cx="7091794" cy="4109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45000"/>
              </a:lnSpc>
              <a:buNone/>
            </a:pPr>
            <a:r>
              <a:rPr lang="en-US" sz="2025" dirty="0">
                <a:solidFill>
                  <a:srgbClr val="F4EBE3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Publicar e realizar testes em ambiente real de produção.</a:t>
            </a:r>
            <a:endParaRPr lang="en-US" sz="202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2500" y="790575"/>
            <a:ext cx="95250" cy="95250"/>
          </a:xfrm>
          <a:prstGeom prst="roundRect">
            <a:avLst>
              <a:gd name="adj" fmla="val 20000"/>
            </a:avLst>
          </a:prstGeom>
          <a:solidFill>
            <a:srgbClr val="C8553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1181100" y="704850"/>
            <a:ext cx="649916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kern="0" spc="150" dirty="0">
                <a:solidFill>
                  <a:srgbClr val="5F544E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 · SISTEMA GERENCIADOR DE PRODUTOS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6305" y="704850"/>
            <a:ext cx="7753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9A8F8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18 / 18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52500" y="1162050"/>
            <a:ext cx="16383000" cy="9525"/>
          </a:xfrm>
          <a:prstGeom prst="rect">
            <a:avLst/>
          </a:prstGeom>
          <a:solidFill>
            <a:srgbClr val="E5DED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952500" y="1533525"/>
            <a:ext cx="18021300" cy="6180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4350" b="1" kern="0" spc="-75" dirty="0">
                <a:solidFill>
                  <a:srgbClr val="3F2216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Referências bibliográficas</a:t>
            </a:r>
            <a:endParaRPr lang="en-US" sz="4350" dirty="0"/>
          </a:p>
        </p:txBody>
      </p:sp>
      <p:sp>
        <p:nvSpPr>
          <p:cNvPr id="7" name="Text 5"/>
          <p:cNvSpPr/>
          <p:nvPr/>
        </p:nvSpPr>
        <p:spPr>
          <a:xfrm>
            <a:off x="1390650" y="4038005"/>
            <a:ext cx="15278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BRASIL. </a:t>
            </a:r>
            <a:r>
              <a:rPr lang="en-US" sz="1950" b="1" dirty="0">
                <a:solidFill>
                  <a:srgbClr val="261D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Lei nº 13.709, de 14 de agosto de 2018 </a:t>
            </a: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— Lei Geral de Proteção de Dados Pessoais (LGPD). Brasília, 2018.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1390650" y="4638080"/>
            <a:ext cx="14277975" cy="781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SHNEIDERMAN, B.; PLAISANT, C. </a:t>
            </a:r>
            <a:r>
              <a:rPr lang="en-US" sz="1950" b="1" dirty="0">
                <a:solidFill>
                  <a:srgbClr val="261D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Designing the User Interface: </a:t>
            </a: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Strategies for Effective Human-Computer Interaction. 6. ed. Pearson, 2016.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390650" y="5609630"/>
            <a:ext cx="15278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NORMAN, D. A. </a:t>
            </a:r>
            <a:r>
              <a:rPr lang="en-US" sz="1950" b="1" dirty="0">
                <a:solidFill>
                  <a:srgbClr val="261D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 design do dia a dia. </a:t>
            </a: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Rio de Janeiro: Anfiteatro, 2006.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390650" y="6209705"/>
            <a:ext cx="15278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PRESSMAN, R. S.; MAXIM, B. R. </a:t>
            </a:r>
            <a:r>
              <a:rPr lang="en-US" sz="1950" b="1" dirty="0">
                <a:solidFill>
                  <a:srgbClr val="261D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Engenharia de Software: </a:t>
            </a: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uma abordagem profissional. 8. ed. Porto Alegre: AMGH, 2016.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1390650" y="6809780"/>
            <a:ext cx="1527810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SOMMERVILLE, I. </a:t>
            </a:r>
            <a:r>
              <a:rPr lang="en-US" sz="1950" b="1" dirty="0">
                <a:solidFill>
                  <a:srgbClr val="261D1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Engenharia de Software. </a:t>
            </a: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10. ed. São Paulo: Pearson, 2018.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52500" y="7543205"/>
            <a:ext cx="15716250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endParaRPr lang="en-US" sz="1800" dirty="0"/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73ABAC06-CE1A-7D8B-62F1-B9C4E8C25973}"/>
              </a:ext>
            </a:extLst>
          </p:cNvPr>
          <p:cNvSpPr/>
          <p:nvPr/>
        </p:nvSpPr>
        <p:spPr>
          <a:xfrm>
            <a:off x="1390650" y="7376220"/>
            <a:ext cx="15278100" cy="1534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JANG, </a:t>
            </a:r>
            <a:r>
              <a:rPr lang="en-US" sz="19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Seongsoo</a:t>
            </a: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; CHONG, Kiwon; YOO, </a:t>
            </a:r>
            <a:r>
              <a:rPr lang="en-US" sz="19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Changjo</a:t>
            </a: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. </a:t>
            </a:r>
            <a:r>
              <a:rPr lang="en-US" sz="1950" b="1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effect of mobile application-driven customer participation on bakery purchase behavior: evidence from a field experiment. International Journal of Hospitality Management</a:t>
            </a: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, v. 94, 2021. </a:t>
            </a:r>
            <a:r>
              <a:rPr lang="en-US" sz="19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Disponível</a:t>
            </a: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19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</a:t>
            </a: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: The effect of mobile application-driven customer participation on bakery purchase behavior: evidence from a field experiment -ORCA </a:t>
            </a:r>
            <a:r>
              <a:rPr lang="en-US" sz="19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Acesso</a:t>
            </a: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19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</a:t>
            </a: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: 8 mar. 2026.</a:t>
            </a:r>
            <a:endParaRPr lang="en-US" sz="1950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F6438F7F-8158-A8B2-6B8B-355B0363F500}"/>
              </a:ext>
            </a:extLst>
          </p:cNvPr>
          <p:cNvSpPr/>
          <p:nvPr/>
        </p:nvSpPr>
        <p:spPr>
          <a:xfrm>
            <a:off x="1390650" y="8848130"/>
            <a:ext cx="15278100" cy="8286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RAZAK, N. A. A. </a:t>
            </a:r>
            <a:r>
              <a:rPr lang="en-US" sz="1950" b="1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Gooti</a:t>
            </a:r>
            <a:r>
              <a:rPr lang="en-US" sz="1950" b="1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Pastries: Online Cake Ordering System. Journal of Computing Technologies and Creative Content (</a:t>
            </a:r>
            <a:r>
              <a:rPr lang="en-US" sz="1950" b="1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JTeC</a:t>
            </a:r>
            <a:r>
              <a:rPr lang="en-US" sz="1950" b="1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)</a:t>
            </a: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, v. 8, n. 2, 2023. </a:t>
            </a:r>
            <a:r>
              <a:rPr lang="en-US" sz="19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Disponível</a:t>
            </a: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19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</a:t>
            </a: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: https://jtec.org.my/index.php/JTeC/article/view/798 </a:t>
            </a:r>
            <a:r>
              <a:rPr lang="en-US" sz="19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Acesso</a:t>
            </a: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 </a:t>
            </a:r>
            <a:r>
              <a:rPr lang="en-US" sz="1950" dirty="0" err="1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</a:t>
            </a:r>
            <a:r>
              <a:rPr lang="en-US" sz="1950" dirty="0">
                <a:solidFill>
                  <a:srgbClr val="3A2F29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: 8 mar. 2026.</a:t>
            </a:r>
            <a:endParaRPr lang="en-US" sz="19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24900" y="2786063"/>
            <a:ext cx="838200" cy="838200"/>
          </a:xfrm>
          <a:prstGeom prst="roundRect">
            <a:avLst>
              <a:gd name="adj" fmla="val 18182"/>
            </a:avLst>
          </a:prstGeom>
          <a:solidFill>
            <a:srgbClr val="FFD8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8686800" y="2786063"/>
            <a:ext cx="9144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marL="0" indent="0" algn="ctr">
              <a:buNone/>
            </a:pPr>
            <a:r>
              <a:rPr lang="en-US" sz="2550" b="1" dirty="0">
                <a:solidFill>
                  <a:srgbClr val="050505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SGP</a:t>
            </a:r>
            <a:endParaRPr lang="en-US" sz="2550" dirty="0"/>
          </a:p>
        </p:txBody>
      </p:sp>
      <p:sp>
        <p:nvSpPr>
          <p:cNvPr id="4" name="Text 2"/>
          <p:cNvSpPr/>
          <p:nvPr/>
        </p:nvSpPr>
        <p:spPr>
          <a:xfrm>
            <a:off x="6713220" y="3967163"/>
            <a:ext cx="486156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fontScale="92500" lnSpcReduction="20000"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100" b="1" kern="0" spc="-15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Obrigado</a:t>
            </a:r>
            <a:endParaRPr lang="en-US" sz="8100" dirty="0"/>
          </a:p>
        </p:txBody>
      </p:sp>
      <p:sp>
        <p:nvSpPr>
          <p:cNvPr id="6" name="Shape 4"/>
          <p:cNvSpPr/>
          <p:nvPr/>
        </p:nvSpPr>
        <p:spPr>
          <a:xfrm>
            <a:off x="8839200" y="6072188"/>
            <a:ext cx="609600" cy="19050"/>
          </a:xfrm>
          <a:prstGeom prst="rect">
            <a:avLst/>
          </a:prstGeom>
          <a:solidFill>
            <a:srgbClr val="FFD84D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5289761" y="6548438"/>
            <a:ext cx="770832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kern="0" spc="150" dirty="0">
                <a:solidFill>
                  <a:srgbClr val="CFCFC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Squad 05 · 2026/1 · Eixo 3 — Design Centrado no Usuário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04862" y="6967538"/>
            <a:ext cx="1667827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 lnSpcReduction="10000"/>
          </a:bodyPr>
          <a:lstStyle/>
          <a:p>
            <a:pPr marL="0" indent="0" algn="ctr">
              <a:buNone/>
            </a:pPr>
            <a:r>
              <a:rPr lang="en-US" sz="1800" dirty="0">
                <a:solidFill>
                  <a:srgbClr val="9A9A9A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Henrique Augusto Freire de Oliveira · Daniella Ferreira Coutinho · Antônio Vicente da Cruz · Ruano Barros Pereira · Leonardo Henrique Soares dos Reis · Guilherme Henrique Santos Arantes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3266</Words>
  <Application>Microsoft Office PowerPoint</Application>
  <PresentationFormat>Personalizar</PresentationFormat>
  <Paragraphs>496</Paragraphs>
  <Slides>32</Slides>
  <Notes>32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32</vt:i4>
      </vt:variant>
    </vt:vector>
  </HeadingPairs>
  <TitlesOfParts>
    <vt:vector size="35" baseType="lpstr">
      <vt:lpstr>Arial</vt:lpstr>
      <vt:lpstr>Helvetica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Antônio vicente da Cruz</cp:lastModifiedBy>
  <cp:revision>6</cp:revision>
  <dcterms:created xsi:type="dcterms:W3CDTF">2026-06-21T21:27:26Z</dcterms:created>
  <dcterms:modified xsi:type="dcterms:W3CDTF">2026-06-21T22:16:48Z</dcterms:modified>
</cp:coreProperties>
</file>